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70" r:id="rId4"/>
    <p:sldId id="287" r:id="rId5"/>
    <p:sldId id="294" r:id="rId6"/>
    <p:sldId id="295" r:id="rId7"/>
    <p:sldId id="284" r:id="rId8"/>
    <p:sldId id="274" r:id="rId9"/>
    <p:sldId id="280" r:id="rId10"/>
    <p:sldId id="282" r:id="rId11"/>
    <p:sldId id="291" r:id="rId12"/>
    <p:sldId id="278" r:id="rId13"/>
    <p:sldId id="293" r:id="rId14"/>
    <p:sldId id="276" r:id="rId15"/>
    <p:sldId id="264" r:id="rId16"/>
  </p:sldIdLst>
  <p:sldSz cx="12192000" cy="6858000"/>
  <p:notesSz cx="6858000" cy="9144000"/>
  <p:embeddedFontLst>
    <p:embeddedFont>
      <p:font typeface="Gilroy" pitchFamily="2" charset="0"/>
      <p:regular r:id="rId18"/>
    </p:embeddedFont>
    <p:embeddedFont>
      <p:font typeface="Gilroy Bold" pitchFamily="2" charset="0"/>
      <p:bold r:id="rId19"/>
    </p:embeddedFont>
    <p:embeddedFont>
      <p:font typeface="Montserrat" pitchFamily="2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26AE"/>
    <a:srgbClr val="48B9B2"/>
    <a:srgbClr val="01AB9C"/>
    <a:srgbClr val="EC6907"/>
    <a:srgbClr val="8627AE"/>
    <a:srgbClr val="971A81"/>
    <a:srgbClr val="03AB9C"/>
    <a:srgbClr val="233A85"/>
    <a:srgbClr val="BCCF00"/>
    <a:srgbClr val="FFD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64"/>
    <p:restoredTop sz="86652"/>
  </p:normalViewPr>
  <p:slideViewPr>
    <p:cSldViewPr snapToGrid="0" snapToObjects="1">
      <p:cViewPr>
        <p:scale>
          <a:sx n="101" d="100"/>
          <a:sy n="101" d="100"/>
        </p:scale>
        <p:origin x="2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2D2AB-D33F-6546-B634-780CAA7CF85A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DC5DC-9A63-3043-AC26-B6EB399284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22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Сейчас дизайнеры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стилисты и заводы тратят большое количество времени на ручную подборку оттенков. Дизайнеры сидят над каталогами по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 часов в месяц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целая рабочая неделя впустую. Из-за человеческой ошибки, когда оттенок отличается всего на полпроцента,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партий товара идут в брак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Один такой промах — и компания теряет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миллион рублей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Даже крутые технологии, вроде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очков, пока не видят точный цвет. Поэтому виртуальные примерки врут, и клиенты не покупают.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DC5DC-9A63-3043-AC26-B6EB399284D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785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настроили печь, всё было идеально. Но в одной партии краска оказалась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чуть-чуть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темнее — буквально на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полпроцента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Глаз почти не видит разницы, но для завода это уже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брак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Представьте, что вы купили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умные очки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примерить диван у себя в гостиной.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наводите камеру на каталог — и видите этот диван у себя в комнате! 🎉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каталоге диван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синий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очках он отображается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серым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каким-то странным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DC5DC-9A63-3043-AC26-B6EB399284D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322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Представьте, что вы взяли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цвета радуги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вырезали их и склеили в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круг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как пиццу 🍕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круг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Иттена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Просто карта цветов, которая помогает не облажаться с подбором палитры.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🔑 Три главных правила (запомнишь за 10 секунд):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Соседи дружат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🤝 Цвета, которые стоят рядом в круге (например, синий и голубой), всегда хорошо смотрятся вместе. → 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Хочешь спокойный дизайн? Бери соседей.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Противоположности притягиваются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⚡ Цвета, которые находятся друг напротив друга (красный ↔ зелёный, синий ↔ оранжевый), создают мощный контраст. → 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Хочешь, чтобы элемент выделялся? Бери «врага» из противоположного сектора.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Триада — это гармония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🔺 Если нарисовать внутри круга равносторонний треугольник, три цвета на его вершинах будут идеально сочетаться. → 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ярко, но со вкусом? Используй три цвета по углам треугольника.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DC5DC-9A63-3043-AC26-B6EB399284D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555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74AD-9468-23E9-D7EB-CD38B08A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FAEC4F-96B0-0CAB-4B92-C692BD9BF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ACD312-53FA-7C81-1803-3D4D30289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BYK Color </a:t>
            </a:r>
            <a:r>
              <a:rPr lang="e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iQC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стационарная станция для лабораторий. Инспектор кладет образец под прибор, ПО сравнивает </a:t>
            </a:r>
            <a:r>
              <a:rPr lang="e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DeltaE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отклонение от стандарта, дает "ОК/Брак". Используют на выпуске партий красок.</a:t>
            </a:r>
          </a:p>
          <a:p>
            <a:r>
              <a:rPr lang="e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Datacolor</a:t>
            </a:r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LightColor</a:t>
            </a:r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Meter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портативный прибор размером с маркер. Наводишь на поверхность, считывает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b*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 цвета, показывает цифры на экране. Нет анализа, программ, гармоний — только сырые данные.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2956-D4C7-C3BF-796B-083B6D914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DC5DC-9A63-3043-AC26-B6EB399284D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100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DC5DC-9A63-3043-AC26-B6EB399284D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44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2FA2E-C550-6D4A-9C8D-70C4B4A59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623430-21F6-D447-A39E-7A03F8E11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D18E9C-66F4-604A-A334-DDCC8144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B84B32-9873-B14F-BDBD-7F36BA14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681C76-760B-7349-91E3-BF8BB140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26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2A407-D385-2744-826D-CA2C9A99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5247F5-83A4-B048-BC9C-937348AE4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1A8372-9F9F-5940-B634-6FF77E86C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F7EAC2-5DC7-1A4F-8052-0407194A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F4A37A-6F69-804F-9817-8F4B736F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07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1F9BCF-DD4F-F648-AF55-1DDBC030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3751CA-9283-8048-8309-EC54A6FA9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A8BEDA-5BA5-D54C-815B-269867A2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73B4B2-EECF-E247-B739-EA7CA54D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B6F861-9001-5C44-B4FE-37B2F4E2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21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49E13-D630-4540-A04C-6A6AA5294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2AE7E-4CE5-EB46-AFB8-114207869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2EC747-BE94-4346-906F-984743F1E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B5BDC8-270D-F947-B3AF-8948D181E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757E74-DAE1-B848-B706-63218613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5D0C0B-A5D4-EB49-B697-8E7F3F4F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72D4A-954D-B947-AC85-7E7B00C0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D44BFA-BDE6-4D41-868E-4354E35F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DBCB6F-1E12-F648-A8C4-DC3AF6389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13A08A-D604-D04B-999F-51DB2754F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B4B0B6-90D3-6149-A6CA-DD1761C94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0969FC-8130-A643-865B-AE494250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5BBD35-4CDE-C44F-9A50-16DEAA95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AD3D35-2B33-244C-98CF-E7545CC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73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D47AF-3ECF-004D-8AC5-7D523626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8C34B5-2F27-BF4E-871F-D0A86FBD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E68556-66E7-3F46-94B0-7C53DA22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379B62-590D-A548-9456-CE53626A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92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4DF922-540C-C541-A53E-4B4A53CB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FB4C9D-A59A-7A4F-A9EB-7594988B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920D9D-65DC-054E-AE21-58EFF18D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17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B21D5-C5E3-F14B-BB26-227E25ED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807FC5-4987-3B45-BC73-593DD476E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B38077-55DF-8647-9406-0C8E4B2D5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EC4969-F3B9-9B41-B4D0-0D925C5F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931065-30B7-5A4D-84B2-3F04199D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F8933D-52AA-E14F-BBD5-08D2C83A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75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FDDA7-91BF-5F47-B227-E2330DAA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874181-AD2C-1147-B64D-DA8C41BD7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A0DF5D-C195-FF47-B8FE-C473FECD1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9FF5C4-B540-3F49-BD6D-0D5A84BD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0E39A1-50BA-CE4D-899F-C4AB61C5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3627E7-4649-8A45-938F-5A2FBE1E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89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EB087-2969-7149-938B-FD3BC981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1A83F5-B43B-5349-8C79-CDB3B9BB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A5985A-FE3E-F640-AB97-1B08A75A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950C2C-763C-5C43-B775-441D6AF3F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AD6F97-D9F8-FD41-A84D-70E03889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2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32E997-0E72-494E-ACEF-FB2231520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ADDEC6-DD82-8643-802A-3CE41A39B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A12C4-30C6-8B48-894A-EAA14512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54D9BE-04E7-2A4B-98FF-24A0A19A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E33DC7-26EE-9A4A-BE5F-9E8228EC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1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7BC05-78AA-B645-B1C5-05F0BE62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2925F5-D5A5-2F40-AA8F-9FE1A1B84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439903-BCFA-8643-8031-92F293C4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3FFAB-7103-014C-BBCC-7BD81920D462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DD715-2568-6049-86F8-98C95B397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3522E-DCE3-BC42-988B-931ABE11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B1CDD-9ED7-6341-AD8A-A1B648B89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92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yk.com/en/products/color-iqc" TargetMode="External"/><Relationship Id="rId3" Type="http://schemas.openxmlformats.org/officeDocument/2006/relationships/hyperlink" Target="https://www.tmtconsulting.ru/reports/ar-vr-2025" TargetMode="External"/><Relationship Id="rId7" Type="http://schemas.openxmlformats.org/officeDocument/2006/relationships/hyperlink" Target="https://www.xrite.com/page/software-subscriptio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jetpack/compose" TargetMode="External"/><Relationship Id="rId5" Type="http://schemas.openxmlformats.org/officeDocument/2006/relationships/hyperlink" Target="https://developers.sber.ru/docs/ru/gigachat/overview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developer.android.com/training/camerax" TargetMode="External"/><Relationship Id="rId9" Type="http://schemas.openxmlformats.org/officeDocument/2006/relationships/hyperlink" Target="https://skyeng.ru/it-industry/design/sistema-tsvetov-pantone-mezhdunarodniy-standart-pechati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07" y="484198"/>
            <a:ext cx="3229455" cy="979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48147-0A76-D29F-8EAC-CFC9D2426389}"/>
              </a:ext>
            </a:extLst>
          </p:cNvPr>
          <p:cNvSpPr txBox="1"/>
          <p:nvPr/>
        </p:nvSpPr>
        <p:spPr>
          <a:xfrm>
            <a:off x="1419243" y="2911963"/>
            <a:ext cx="93535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Montserrat" pitchFamily="2" charset="0"/>
              </a:rPr>
              <a:t>Соответствие цветов</a:t>
            </a:r>
            <a:endParaRPr lang="en" sz="2400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Мобильное приложение для определения цвета и подбора цветовых сочетаний</a:t>
            </a:r>
          </a:p>
          <a:p>
            <a:endParaRPr lang="ru-RU" dirty="0">
              <a:latin typeface="Montserrat" pitchFamily="2" charset="0"/>
            </a:endParaRPr>
          </a:p>
          <a:p>
            <a:pPr algn="ctr"/>
            <a:endParaRPr lang="ru-RU" dirty="0">
              <a:latin typeface="Montserra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FD6EE-63EE-DFD3-8143-F5DC54B3C5D2}"/>
              </a:ext>
            </a:extLst>
          </p:cNvPr>
          <p:cNvSpPr txBox="1"/>
          <p:nvPr/>
        </p:nvSpPr>
        <p:spPr>
          <a:xfrm>
            <a:off x="5941621" y="5023262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Направление: Природоподобные и нейротехнологии</a:t>
            </a:r>
          </a:p>
          <a:p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Автор: Прилепская Полина Игоревна учащийся 2 курса</a:t>
            </a:r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ГБПОУ МО «Физтех-колледж»</a:t>
            </a:r>
          </a:p>
          <a:p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Руководители: Закирова И</a:t>
            </a:r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.</a:t>
            </a:r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А</a:t>
            </a:r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Montserrat" pitchFamily="2" charset="0"/>
              </a:rPr>
              <a:t>Базяк</a:t>
            </a:r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 Г</a:t>
            </a:r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.</a:t>
            </a:r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В</a:t>
            </a:r>
          </a:p>
        </p:txBody>
      </p:sp>
    </p:spTree>
    <p:extLst>
      <p:ext uri="{BB962C8B-B14F-4D97-AF65-F5344CB8AC3E}">
        <p14:creationId xmlns:p14="http://schemas.microsoft.com/office/powerpoint/2010/main" val="63103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3703E-B125-B6E3-775F-1E4D818F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FF4DD2C-E92F-6CB3-0A81-C38DC09D782E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983B002-FB66-BB54-93E5-98F9A8182CB0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3D9B0-2172-116E-6893-6F574623DEFC}"/>
              </a:ext>
            </a:extLst>
          </p:cNvPr>
          <p:cNvSpPr txBox="1"/>
          <p:nvPr/>
        </p:nvSpPr>
        <p:spPr>
          <a:xfrm>
            <a:off x="3762704" y="43507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АКТУАЛЬНОСТЬ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291782-B1E1-B59F-278A-836A70C918C4}"/>
              </a:ext>
            </a:extLst>
          </p:cNvPr>
          <p:cNvSpPr txBox="1"/>
          <p:nvPr/>
        </p:nvSpPr>
        <p:spPr>
          <a:xfrm>
            <a:off x="982890" y="2736022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DC106-D9D9-6898-5C46-86957453D077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F718490-7DEF-2916-D1E2-0CE664329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6B372F-28F0-870F-D3A4-263C9987C1C6}"/>
              </a:ext>
            </a:extLst>
          </p:cNvPr>
          <p:cNvSpPr txBox="1"/>
          <p:nvPr/>
        </p:nvSpPr>
        <p:spPr>
          <a:xfrm>
            <a:off x="328315" y="1634231"/>
            <a:ext cx="4999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latin typeface="Montserrat" pitchFamily="2" charset="0"/>
              </a:rPr>
              <a:t>Рынок колористики и </a:t>
            </a:r>
            <a:r>
              <a:rPr lang="en" sz="1400" dirty="0">
                <a:latin typeface="Montserrat" pitchFamily="2" charset="0"/>
              </a:rPr>
              <a:t>AR/VR </a:t>
            </a:r>
            <a:r>
              <a:rPr lang="ru-RU" sz="1400" dirty="0">
                <a:latin typeface="Montserrat" pitchFamily="2" charset="0"/>
              </a:rPr>
              <a:t>дизайна растет на </a:t>
            </a:r>
            <a:r>
              <a:rPr lang="ru-RU" sz="1400" b="1" dirty="0">
                <a:latin typeface="Montserrat" pitchFamily="2" charset="0"/>
              </a:rPr>
              <a:t>+15% в год до ₽79 млрд</a:t>
            </a:r>
            <a:r>
              <a:rPr lang="en-US" sz="1400" b="1" dirty="0">
                <a:latin typeface="Montserrat" pitchFamily="2" charset="0"/>
              </a:rPr>
              <a:t>.</a:t>
            </a:r>
            <a:r>
              <a:rPr lang="en" sz="1400" b="1" dirty="0">
                <a:latin typeface="Montserrat" pitchFamily="2" charset="0"/>
              </a:rPr>
              <a:t> </a:t>
            </a:r>
            <a:r>
              <a:rPr lang="en" sz="1400" dirty="0">
                <a:latin typeface="Montserrat" pitchFamily="2" charset="0"/>
              </a:rPr>
              <a:t>B2B-</a:t>
            </a:r>
            <a:r>
              <a:rPr lang="ru-RU" sz="1400" dirty="0">
                <a:latin typeface="Montserrat" pitchFamily="2" charset="0"/>
              </a:rPr>
              <a:t>гиганты (</a:t>
            </a:r>
            <a:r>
              <a:rPr lang="en" sz="1400" dirty="0">
                <a:latin typeface="Montserrat" pitchFamily="2" charset="0"/>
              </a:rPr>
              <a:t>BASF, AkzoNobel, VW) </a:t>
            </a:r>
            <a:r>
              <a:rPr lang="ru-RU" sz="1400" dirty="0">
                <a:latin typeface="Montserrat" pitchFamily="2" charset="0"/>
              </a:rPr>
              <a:t>теряют </a:t>
            </a:r>
            <a:r>
              <a:rPr lang="ru-RU" sz="1400" b="1" dirty="0">
                <a:latin typeface="Montserrat" pitchFamily="2" charset="0"/>
              </a:rPr>
              <a:t>₽100+ млрд </a:t>
            </a:r>
            <a:r>
              <a:rPr lang="ru-RU" sz="1400" dirty="0">
                <a:latin typeface="Montserrat" pitchFamily="2" charset="0"/>
              </a:rPr>
              <a:t>из-за рутины цветового контроля.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BA2385-508A-4CFF-92D1-7E93E41F4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304577-F5E7-6235-E976-BA5F0F9B1CFE}"/>
              </a:ext>
            </a:extLst>
          </p:cNvPr>
          <p:cNvSpPr txBox="1"/>
          <p:nvPr/>
        </p:nvSpPr>
        <p:spPr>
          <a:xfrm>
            <a:off x="6757427" y="1772850"/>
            <a:ext cx="45371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dirty="0">
              <a:latin typeface="Montserrat" pitchFamily="2" charset="0"/>
            </a:endParaRPr>
          </a:p>
          <a:p>
            <a:r>
              <a:rPr lang="ru-RU" sz="1600" b="1" dirty="0">
                <a:latin typeface="Montserrat" pitchFamily="2" charset="0"/>
              </a:rPr>
              <a:t>70% колористов </a:t>
            </a:r>
            <a:r>
              <a:rPr lang="ru-RU" sz="1600" dirty="0">
                <a:latin typeface="Montserrat" pitchFamily="2" charset="0"/>
              </a:rPr>
              <a:t>тратят часы на каталоги </a:t>
            </a:r>
            <a:r>
              <a:rPr lang="en" sz="1600" dirty="0">
                <a:latin typeface="Montserrat" pitchFamily="2" charset="0"/>
              </a:rPr>
              <a:t>Pantone </a:t>
            </a:r>
            <a:r>
              <a:rPr lang="ru-RU" sz="1600" dirty="0">
                <a:latin typeface="Montserrat" pitchFamily="2" charset="0"/>
              </a:rPr>
              <a:t>и ручные тесты красок.</a:t>
            </a:r>
          </a:p>
          <a:p>
            <a:endParaRPr lang="ru-RU" sz="1600" dirty="0">
              <a:latin typeface="Montserrat" pitchFamily="2" charset="0"/>
            </a:endParaRPr>
          </a:p>
          <a:p>
            <a:r>
              <a:rPr lang="ru-RU" sz="1600" b="1" dirty="0">
                <a:latin typeface="Montserrat" pitchFamily="2" charset="0"/>
              </a:rPr>
              <a:t>30% брака партий </a:t>
            </a:r>
            <a:r>
              <a:rPr lang="ru-RU" sz="1600" dirty="0">
                <a:latin typeface="Montserrat" pitchFamily="2" charset="0"/>
              </a:rPr>
              <a:t>из-за 0.5% расхождений оттенков = ₽1</a:t>
            </a:r>
            <a:r>
              <a:rPr lang="en" sz="1600" dirty="0">
                <a:latin typeface="Montserrat" pitchFamily="2" charset="0"/>
              </a:rPr>
              <a:t>M </a:t>
            </a:r>
            <a:r>
              <a:rPr lang="ru-RU" sz="1600" dirty="0">
                <a:latin typeface="Montserrat" pitchFamily="2" charset="0"/>
              </a:rPr>
              <a:t>убытков на тираж.</a:t>
            </a:r>
          </a:p>
          <a:p>
            <a:endParaRPr lang="ru-RU" sz="1600" dirty="0">
              <a:latin typeface="Montserrat" pitchFamily="2" charset="0"/>
            </a:endParaRPr>
          </a:p>
          <a:p>
            <a:r>
              <a:rPr lang="en" sz="1600" b="1" dirty="0">
                <a:latin typeface="Montserrat" pitchFamily="2" charset="0"/>
              </a:rPr>
              <a:t>AR/VR </a:t>
            </a:r>
            <a:r>
              <a:rPr lang="ru-RU" sz="1600" b="1" dirty="0">
                <a:latin typeface="Montserrat" pitchFamily="2" charset="0"/>
              </a:rPr>
              <a:t>платформы </a:t>
            </a:r>
            <a:r>
              <a:rPr lang="ru-RU" sz="1600" dirty="0">
                <a:latin typeface="Montserrat" pitchFamily="2" charset="0"/>
              </a:rPr>
              <a:t>(</a:t>
            </a:r>
            <a:r>
              <a:rPr lang="en" sz="1600" dirty="0">
                <a:latin typeface="Montserrat" pitchFamily="2" charset="0"/>
              </a:rPr>
              <a:t>Autodesk/Trimble): </a:t>
            </a:r>
            <a:r>
              <a:rPr lang="ru-RU" sz="1600" dirty="0">
                <a:latin typeface="Montserrat" pitchFamily="2" charset="0"/>
              </a:rPr>
              <a:t>очки сканируют без точного цвета → провал продаж.</a:t>
            </a:r>
          </a:p>
          <a:p>
            <a:endParaRPr lang="ru-RU" sz="1600" dirty="0">
              <a:latin typeface="Montserrat" pitchFamily="2" charset="0"/>
            </a:endParaRPr>
          </a:p>
          <a:p>
            <a:endParaRPr lang="ru-RU" sz="1600" dirty="0">
              <a:latin typeface="Montserrat" pitchFamily="2" charset="0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4C1C939D-0DB4-0A12-3F6C-CBA77C3315FC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 flipH="1">
            <a:off x="6095848" y="1213337"/>
            <a:ext cx="152" cy="5473944"/>
          </a:xfrm>
          <a:prstGeom prst="line">
            <a:avLst/>
          </a:prstGeom>
          <a:ln w="38100">
            <a:solidFill>
              <a:srgbClr val="01AB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CBC7A93-5D96-580F-9539-F7C16BB89929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Выходное изображение">
            <a:extLst>
              <a:ext uri="{FF2B5EF4-FFF2-40B4-BE49-F238E27FC236}">
                <a16:creationId xmlns:a16="http://schemas.microsoft.com/office/drawing/2014/main" id="{98D9721E-AC42-BA87-47A5-9FB1FA544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73" y="2652948"/>
            <a:ext cx="4728902" cy="272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2A49A1-B3B7-CA8D-F81E-476369042901}"/>
              </a:ext>
            </a:extLst>
          </p:cNvPr>
          <p:cNvSpPr txBox="1"/>
          <p:nvPr/>
        </p:nvSpPr>
        <p:spPr>
          <a:xfrm>
            <a:off x="6757427" y="4872574"/>
            <a:ext cx="4622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itchFamily="2" charset="0"/>
              </a:rPr>
              <a:t>Дизайнеры/Стилисты </a:t>
            </a:r>
            <a:r>
              <a:rPr lang="ru-RU" sz="1600" dirty="0">
                <a:latin typeface="Montserrat" pitchFamily="2" charset="0"/>
              </a:rPr>
              <a:t>тратят в среднем 15 – 40 часов в месяц только на цвет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CA727-FBB6-DE8B-BB41-625FE594C5BD}"/>
              </a:ext>
            </a:extLst>
          </p:cNvPr>
          <p:cNvSpPr txBox="1"/>
          <p:nvPr/>
        </p:nvSpPr>
        <p:spPr>
          <a:xfrm>
            <a:off x="328315" y="5558044"/>
            <a:ext cx="5576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b="1" dirty="0">
                <a:latin typeface="Montserrat" pitchFamily="2" charset="0"/>
              </a:rPr>
              <a:t>Дизайнеры</a:t>
            </a:r>
            <a:r>
              <a:rPr lang="ru-RU" sz="1400" dirty="0">
                <a:latin typeface="Montserrat" pitchFamily="2" charset="0"/>
              </a:rPr>
              <a:t> жертвуют креативом: </a:t>
            </a:r>
            <a:r>
              <a:rPr lang="ru-RU" sz="1400" b="1" dirty="0">
                <a:latin typeface="Montserrat" pitchFamily="2" charset="0"/>
              </a:rPr>
              <a:t>до половины рабочего времени</a:t>
            </a:r>
            <a:r>
              <a:rPr lang="ru-RU" sz="1400" dirty="0">
                <a:latin typeface="Montserrat" pitchFamily="2" charset="0"/>
              </a:rPr>
              <a:t> уходит на мониторинг трендов и подбор палитр</a:t>
            </a:r>
            <a:r>
              <a:rPr lang="en-US" sz="1400" dirty="0">
                <a:latin typeface="Montserrat" pitchFamily="2" charset="0"/>
              </a:rPr>
              <a:t>, </a:t>
            </a:r>
            <a:r>
              <a:rPr lang="ru-RU" sz="1400" dirty="0">
                <a:latin typeface="Montserrat" pitchFamily="2" charset="0"/>
              </a:rPr>
              <a:t>что </a:t>
            </a:r>
            <a:r>
              <a:rPr lang="ru-RU" sz="1400" b="1" dirty="0">
                <a:latin typeface="Montserrat" pitchFamily="2" charset="0"/>
              </a:rPr>
              <a:t>приводит к срывам </a:t>
            </a:r>
            <a:r>
              <a:rPr lang="ru-RU" sz="1400" dirty="0">
                <a:latin typeface="Montserrat" pitchFamily="2" charset="0"/>
              </a:rPr>
              <a:t>дедлайнов и выгоранию</a:t>
            </a:r>
            <a:r>
              <a:rPr lang="en-US" sz="1400" dirty="0">
                <a:latin typeface="Montserrat" pitchFamily="2" charset="0"/>
              </a:rPr>
              <a:t>.</a:t>
            </a:r>
            <a:r>
              <a:rPr lang="ru-RU" sz="1400" dirty="0">
                <a:latin typeface="Montserrat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433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9B8CE-7C7E-6320-2655-B3603445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0243684-F7C5-8821-65F5-642C2E0F3EEB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C7A5751-518E-142B-3E2E-897F49BF1458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C34BF0-3320-6669-3F1A-022358779683}"/>
              </a:ext>
            </a:extLst>
          </p:cNvPr>
          <p:cNvSpPr txBox="1"/>
          <p:nvPr/>
        </p:nvSpPr>
        <p:spPr>
          <a:xfrm>
            <a:off x="5255049" y="459094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ЦЕЛЬ И ЗАДАЧИ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4AE8F-147E-4D03-4D00-2363C698F26F}"/>
              </a:ext>
            </a:extLst>
          </p:cNvPr>
          <p:cNvSpPr txBox="1"/>
          <p:nvPr/>
        </p:nvSpPr>
        <p:spPr>
          <a:xfrm>
            <a:off x="988253" y="1608310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4F6B8C-DA4E-B6A4-A99D-2D888D8833D3}"/>
              </a:ext>
            </a:extLst>
          </p:cNvPr>
          <p:cNvSpPr txBox="1"/>
          <p:nvPr/>
        </p:nvSpPr>
        <p:spPr>
          <a:xfrm>
            <a:off x="738642" y="1588996"/>
            <a:ext cx="52291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spc="25" dirty="0">
                <a:latin typeface="Montserrat" panose="00000500000000000000" pitchFamily="2" charset="-52"/>
                <a:cs typeface="Arial" panose="020B0604020202020204" pitchFamily="34" charset="0"/>
              </a:rPr>
              <a:t>Цель:</a:t>
            </a:r>
          </a:p>
          <a:p>
            <a:r>
              <a:rPr lang="ru-RU" b="1" spc="25" dirty="0">
                <a:latin typeface="Montserrat" panose="00000500000000000000" pitchFamily="2" charset="-52"/>
                <a:cs typeface="Arial" panose="020B0604020202020204" pitchFamily="34" charset="0"/>
              </a:rPr>
              <a:t>Разработать мобильное приложение, которое:</a:t>
            </a:r>
            <a:endParaRPr lang="ru-RU" spc="25" dirty="0">
              <a:latin typeface="Montserrat" panose="00000500000000000000" pitchFamily="2" charset="-5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pc="25" dirty="0">
                <a:latin typeface="Montserrat" panose="00000500000000000000" pitchFamily="2" charset="-52"/>
                <a:cs typeface="Arial" panose="020B0604020202020204" pitchFamily="34" charset="0"/>
              </a:rPr>
              <a:t>Определяет цвет объекта через камеру.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pc="25" dirty="0">
                <a:latin typeface="Montserrat" panose="00000500000000000000" pitchFamily="2" charset="-52"/>
                <a:cs typeface="Arial" panose="020B0604020202020204" pitchFamily="34" charset="0"/>
              </a:rPr>
              <a:t>Показывает название, </a:t>
            </a:r>
            <a:r>
              <a:rPr lang="en" spc="25" dirty="0">
                <a:latin typeface="Montserrat" panose="00000500000000000000" pitchFamily="2" charset="-52"/>
                <a:cs typeface="Arial" panose="020B0604020202020204" pitchFamily="34" charset="0"/>
              </a:rPr>
              <a:t>RGB </a:t>
            </a:r>
            <a:r>
              <a:rPr lang="ru-RU" spc="25" dirty="0">
                <a:latin typeface="Montserrat" panose="00000500000000000000" pitchFamily="2" charset="-52"/>
                <a:cs typeface="Arial" panose="020B0604020202020204" pitchFamily="34" charset="0"/>
              </a:rPr>
              <a:t>и </a:t>
            </a:r>
            <a:r>
              <a:rPr lang="en" spc="25" dirty="0">
                <a:latin typeface="Montserrat" panose="00000500000000000000" pitchFamily="2" charset="-52"/>
                <a:cs typeface="Arial" panose="020B0604020202020204" pitchFamily="34" charset="0"/>
              </a:rPr>
              <a:t>HEX.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pc="25" dirty="0">
                <a:latin typeface="Montserrat" panose="00000500000000000000" pitchFamily="2" charset="-52"/>
                <a:cs typeface="Arial" panose="020B0604020202020204" pitchFamily="34" charset="0"/>
              </a:rPr>
              <a:t>Предлагает гармоничные цветовые сочетания.</a:t>
            </a:r>
          </a:p>
          <a:p>
            <a:endParaRPr lang="ru-RU" spc="2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31FD14-E19E-217C-BA75-69B4F1638898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24804F-FA29-9416-ED2E-98F139D6A067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E341EB5-B39E-E643-33C0-CD61CF74C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7D2562-EEA4-5C1C-7A39-6767287DB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AC2825-FD30-25F2-2BFE-EEB253EC456F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1B125-F046-4176-B740-39549CB311A9}"/>
              </a:ext>
            </a:extLst>
          </p:cNvPr>
          <p:cNvSpPr txBox="1"/>
          <p:nvPr/>
        </p:nvSpPr>
        <p:spPr>
          <a:xfrm>
            <a:off x="6081969" y="4050429"/>
            <a:ext cx="58880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Montserrat" pitchFamily="2" charset="0"/>
              </a:rPr>
              <a:t>Задачи:</a:t>
            </a:r>
          </a:p>
          <a:p>
            <a:pPr marL="342900" indent="-342900">
              <a:buAutoNum type="arabicPeriod"/>
            </a:pPr>
            <a:r>
              <a:rPr lang="ru-RU" dirty="0">
                <a:latin typeface="Montserrat" pitchFamily="2" charset="0"/>
              </a:rPr>
              <a:t>Изучить данные рынка колористики</a:t>
            </a:r>
            <a:r>
              <a:rPr lang="en-US" dirty="0">
                <a:latin typeface="Montserrat" pitchFamily="2" charset="0"/>
              </a:rPr>
              <a:t>, </a:t>
            </a:r>
            <a:r>
              <a:rPr lang="ru-RU" dirty="0">
                <a:latin typeface="Montserrat" pitchFamily="2" charset="0"/>
              </a:rPr>
              <a:t>проанализировать автопром</a:t>
            </a:r>
            <a:r>
              <a:rPr lang="en-US" dirty="0">
                <a:latin typeface="Montserrat" pitchFamily="2" charset="0"/>
              </a:rPr>
              <a:t>,</a:t>
            </a:r>
            <a:r>
              <a:rPr lang="ru-RU" dirty="0">
                <a:latin typeface="Montserrat" pitchFamily="2" charset="0"/>
              </a:rPr>
              <a:t> </a:t>
            </a:r>
            <a:r>
              <a:rPr lang="en" dirty="0">
                <a:latin typeface="Montserrat" pitchFamily="2" charset="0"/>
              </a:rPr>
              <a:t>AR/VR </a:t>
            </a:r>
            <a:r>
              <a:rPr lang="ru-RU" dirty="0">
                <a:latin typeface="Montserrat" pitchFamily="2" charset="0"/>
              </a:rPr>
              <a:t>дизайн;</a:t>
            </a:r>
          </a:p>
          <a:p>
            <a:pPr marL="342900" indent="-342900">
              <a:buAutoNum type="arabicPeriod"/>
            </a:pPr>
            <a:r>
              <a:rPr lang="ru-RU" dirty="0">
                <a:latin typeface="Montserrat" pitchFamily="2" charset="0"/>
              </a:rPr>
              <a:t>Выявление конкурентов;</a:t>
            </a:r>
          </a:p>
          <a:p>
            <a:pPr marL="342900" indent="-342900">
              <a:buAutoNum type="arabicPeriod"/>
            </a:pPr>
            <a:r>
              <a:rPr lang="ru-RU" dirty="0">
                <a:latin typeface="Montserrat" pitchFamily="2" charset="0"/>
              </a:rPr>
              <a:t>Разработать алгоритм работы</a:t>
            </a:r>
          </a:p>
          <a:p>
            <a:pPr marL="342900" indent="-342900">
              <a:buFontTx/>
              <a:buAutoNum type="arabicPeriod"/>
            </a:pPr>
            <a:r>
              <a:rPr lang="ru-RU" dirty="0">
                <a:latin typeface="Montserrat" pitchFamily="2" charset="0"/>
              </a:rPr>
              <a:t>Проанализировать библиотеки для написания приложения</a:t>
            </a:r>
            <a:endParaRPr lang="en-US" dirty="0">
              <a:latin typeface="Montserrat" pitchFamily="2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Montserrat" pitchFamily="2" charset="0"/>
            </a:endParaRPr>
          </a:p>
          <a:p>
            <a:pPr marL="342900" indent="-342900">
              <a:buAutoNum type="arabicPeriod"/>
            </a:pPr>
            <a:endParaRPr lang="ru-RU" dirty="0">
              <a:latin typeface="Montserrat" pitchFamily="2" charset="0"/>
            </a:endParaRPr>
          </a:p>
          <a:p>
            <a:endParaRPr lang="ru-RU" dirty="0">
              <a:latin typeface="Montserrat" pitchFamily="2" charset="0"/>
            </a:endParaRPr>
          </a:p>
        </p:txBody>
      </p:sp>
      <p:pic>
        <p:nvPicPr>
          <p:cNvPr id="1028" name="Picture 4" descr="What is the difference between AR and VR?">
            <a:extLst>
              <a:ext uri="{FF2B5EF4-FFF2-40B4-BE49-F238E27FC236}">
                <a16:creationId xmlns:a16="http://schemas.microsoft.com/office/drawing/2014/main" id="{83D252E7-68A2-D3C4-AD77-1EB681E1F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198" y="1427057"/>
            <a:ext cx="3615454" cy="22201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Этапы разработки мобильного приложения">
            <a:extLst>
              <a:ext uri="{FF2B5EF4-FFF2-40B4-BE49-F238E27FC236}">
                <a16:creationId xmlns:a16="http://schemas.microsoft.com/office/drawing/2014/main" id="{1C05D16B-BB14-163E-759D-81194BD8B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4121978"/>
            <a:ext cx="3977869" cy="22661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492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FF111-42D2-F79C-7132-ACF3B2C1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1382B98-7001-C031-A0E8-2E44FD5FC148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EB3C688-F759-9481-BC2E-5C5C13659788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E39D9-908D-FF9B-9478-C3A96E525174}"/>
              </a:ext>
            </a:extLst>
          </p:cNvPr>
          <p:cNvSpPr txBox="1"/>
          <p:nvPr/>
        </p:nvSpPr>
        <p:spPr>
          <a:xfrm>
            <a:off x="4710513" y="434775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ЦЕЛЕВАЯ АУДИТОРИЯ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AC470-7E5B-DE9A-7A8D-7570A723966C}"/>
              </a:ext>
            </a:extLst>
          </p:cNvPr>
          <p:cNvSpPr txBox="1"/>
          <p:nvPr/>
        </p:nvSpPr>
        <p:spPr>
          <a:xfrm>
            <a:off x="3835573" y="128323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Основные клиенты (</a:t>
            </a:r>
            <a:r>
              <a:rPr lang="en-US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B2B, B2C)</a:t>
            </a:r>
            <a:endParaRPr lang="ru-RU" sz="1600" b="1" dirty="0"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AD707B4-5C73-2AB5-C7ED-A9FDE5D63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9E28E9-163C-A613-4638-459536438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803BB0-C3E7-09A5-380E-95160FB048A4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113CD-D3E1-8A83-3577-B4FF50304469}"/>
              </a:ext>
            </a:extLst>
          </p:cNvPr>
          <p:cNvSpPr txBox="1"/>
          <p:nvPr/>
        </p:nvSpPr>
        <p:spPr>
          <a:xfrm>
            <a:off x="132240" y="2167579"/>
            <a:ext cx="45782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Montserrat" pitchFamily="2" charset="0"/>
              </a:rPr>
              <a:t>Производители красок/покрытий </a:t>
            </a:r>
            <a:r>
              <a:rPr lang="ru-RU" dirty="0">
                <a:latin typeface="Montserrat" pitchFamily="2" charset="0"/>
              </a:rPr>
              <a:t>(</a:t>
            </a:r>
            <a:r>
              <a:rPr lang="en" dirty="0">
                <a:latin typeface="Montserrat" pitchFamily="2" charset="0"/>
              </a:rPr>
              <a:t>BASF, AkzoNobel, PPG) — 5K </a:t>
            </a:r>
            <a:r>
              <a:rPr lang="ru-RU" dirty="0">
                <a:latin typeface="Montserrat" pitchFamily="2" charset="0"/>
              </a:rPr>
              <a:t>фабрик, ₽100</a:t>
            </a:r>
            <a:r>
              <a:rPr lang="en" dirty="0">
                <a:latin typeface="Montserrat" pitchFamily="2" charset="0"/>
              </a:rPr>
              <a:t>M </a:t>
            </a:r>
            <a:r>
              <a:rPr lang="ru-RU" dirty="0">
                <a:latin typeface="Montserrat" pitchFamily="2" charset="0"/>
              </a:rPr>
              <a:t>убытков на бракованный тираж из-за 0.5% расхождений оттенков.</a:t>
            </a:r>
          </a:p>
          <a:p>
            <a:endParaRPr lang="ru-RU" dirty="0">
              <a:latin typeface="Montserrat" pitchFamily="2" charset="0"/>
            </a:endParaRPr>
          </a:p>
          <a:p>
            <a:endParaRPr lang="ru-RU" dirty="0">
              <a:latin typeface="Montserrat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D66DD-3231-383E-D8CC-1B6F19D9BF51}"/>
              </a:ext>
            </a:extLst>
          </p:cNvPr>
          <p:cNvSpPr txBox="1"/>
          <p:nvPr/>
        </p:nvSpPr>
        <p:spPr>
          <a:xfrm>
            <a:off x="7554343" y="2141656"/>
            <a:ext cx="44159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1" dirty="0">
                <a:latin typeface="Montserrat" pitchFamily="2" charset="0"/>
              </a:rPr>
              <a:t>AR/VR </a:t>
            </a:r>
            <a:r>
              <a:rPr lang="ru-RU" sz="1800" b="1" dirty="0">
                <a:latin typeface="Montserrat" pitchFamily="2" charset="0"/>
              </a:rPr>
              <a:t>платформы</a:t>
            </a:r>
            <a:r>
              <a:rPr lang="ru-RU" sz="1800" dirty="0">
                <a:latin typeface="Montserrat" pitchFamily="2" charset="0"/>
              </a:rPr>
              <a:t> (</a:t>
            </a:r>
            <a:r>
              <a:rPr lang="en" sz="1800" dirty="0">
                <a:latin typeface="Montserrat" pitchFamily="2" charset="0"/>
              </a:rPr>
              <a:t>Autodesk, Trimble) — 500+ </a:t>
            </a:r>
            <a:r>
              <a:rPr lang="ru-RU" sz="1800" dirty="0">
                <a:latin typeface="Montserrat" pitchFamily="2" charset="0"/>
              </a:rPr>
              <a:t>поставщиков, очки сканируют без точного цвета = провал </a:t>
            </a:r>
            <a:r>
              <a:rPr lang="en" sz="1800" dirty="0">
                <a:latin typeface="Montserrat" pitchFamily="2" charset="0"/>
              </a:rPr>
              <a:t>B2B </a:t>
            </a:r>
            <a:r>
              <a:rPr lang="ru-RU" sz="1800" dirty="0">
                <a:latin typeface="Montserrat" pitchFamily="2" charset="0"/>
              </a:rPr>
              <a:t>продаж.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C5C3C31-9DD6-7579-7BF1-52CAC9207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37" y="5000082"/>
            <a:ext cx="2680847" cy="96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utodesk - Credly">
            <a:extLst>
              <a:ext uri="{FF2B5EF4-FFF2-40B4-BE49-F238E27FC236}">
                <a16:creationId xmlns:a16="http://schemas.microsoft.com/office/drawing/2014/main" id="{1453FED4-D261-2DEB-8B3C-CA1CD76CF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" t="11865" r="1514" b="24217"/>
          <a:stretch>
            <a:fillRect/>
          </a:stretch>
        </p:blipFill>
        <p:spPr bwMode="auto">
          <a:xfrm>
            <a:off x="8954772" y="4267369"/>
            <a:ext cx="2770976" cy="182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7CCD8E-11A0-7E97-72BD-BAEB4085A6D1}"/>
              </a:ext>
            </a:extLst>
          </p:cNvPr>
          <p:cNvSpPr txBox="1"/>
          <p:nvPr/>
        </p:nvSpPr>
        <p:spPr>
          <a:xfrm>
            <a:off x="3544266" y="4453250"/>
            <a:ext cx="53125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Montserrat" pitchFamily="2" charset="0"/>
              </a:rPr>
              <a:t>Дизайнеры и стилисты (18–40</a:t>
            </a:r>
            <a:r>
              <a:rPr lang="en-US" b="1" dirty="0">
                <a:latin typeface="Montserrat" pitchFamily="2" charset="0"/>
              </a:rPr>
              <a:t>+</a:t>
            </a:r>
            <a:r>
              <a:rPr lang="ru-RU" b="1" dirty="0">
                <a:latin typeface="Montserrat" pitchFamily="2" charset="0"/>
              </a:rPr>
              <a:t> лет)</a:t>
            </a:r>
          </a:p>
          <a:p>
            <a:pPr algn="just"/>
            <a:r>
              <a:rPr lang="ru-RU" dirty="0">
                <a:latin typeface="Montserrat" pitchFamily="2" charset="0"/>
              </a:rPr>
              <a:t>Устают искать тренды и цвета — полдня уходит, сроки горят, сил нет. Хотят помощника, чтоб творить. В </a:t>
            </a:r>
            <a:r>
              <a:rPr lang="en" dirty="0">
                <a:latin typeface="Montserrat" pitchFamily="2" charset="0"/>
              </a:rPr>
              <a:t>Figma, </a:t>
            </a:r>
            <a:r>
              <a:rPr lang="en" dirty="0" err="1">
                <a:latin typeface="Montserrat" pitchFamily="2" charset="0"/>
              </a:rPr>
              <a:t>Dribbble</a:t>
            </a:r>
            <a:r>
              <a:rPr lang="en" dirty="0">
                <a:latin typeface="Montserrat" pitchFamily="2" charset="0"/>
              </a:rPr>
              <a:t>, Pinterest. 100</a:t>
            </a:r>
            <a:r>
              <a:rPr lang="ru-RU" dirty="0">
                <a:latin typeface="Montserrat" pitchFamily="2" charset="0"/>
              </a:rPr>
              <a:t>к+ в РФ.</a:t>
            </a:r>
          </a:p>
        </p:txBody>
      </p:sp>
      <p:pic>
        <p:nvPicPr>
          <p:cNvPr id="1029" name="Picture 5" descr="Figma - облачный графический редактор для командной работы.">
            <a:extLst>
              <a:ext uri="{FF2B5EF4-FFF2-40B4-BE49-F238E27FC236}">
                <a16:creationId xmlns:a16="http://schemas.microsoft.com/office/drawing/2014/main" id="{4388C735-DD7D-F1E9-FB6A-DF85016AC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1" t="11062" r="16681" b="17350"/>
          <a:stretch>
            <a:fillRect/>
          </a:stretch>
        </p:blipFill>
        <p:spPr bwMode="auto">
          <a:xfrm>
            <a:off x="4637658" y="1847512"/>
            <a:ext cx="2803278" cy="170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95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D1667-3326-850A-5752-540B1858E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73B657F-1A2A-9724-9AA3-FCC0855C8F9D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EF725F9-97F9-8322-568C-99608AC12BA7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25743-3AC4-1858-BF97-BAB74F0FED0F}"/>
              </a:ext>
            </a:extLst>
          </p:cNvPr>
          <p:cNvSpPr txBox="1"/>
          <p:nvPr/>
        </p:nvSpPr>
        <p:spPr>
          <a:xfrm>
            <a:off x="5729844" y="37768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ОПРОС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EAF328C-1A5E-8447-5F5F-2EF2697DF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98DE69-3B83-F1D9-62EF-42F455BC9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44A37D-EDCF-4916-5529-5578CC4B4A35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7EBA59-FA4D-5A84-6C08-B8A6BD405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25" y="1298518"/>
            <a:ext cx="3824039" cy="27041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5B5E85-A5FB-7181-AD26-DC4F00B5FC46}"/>
              </a:ext>
            </a:extLst>
          </p:cNvPr>
          <p:cNvSpPr txBox="1"/>
          <p:nvPr/>
        </p:nvSpPr>
        <p:spPr>
          <a:xfrm>
            <a:off x="605433" y="1192619"/>
            <a:ext cx="372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b="1" dirty="0">
                <a:latin typeface="Montserrat" pitchFamily="2" charset="0"/>
              </a:rPr>
              <a:t>Как подбираете цветовые сочетания?</a:t>
            </a:r>
          </a:p>
          <a:p>
            <a:pPr algn="just"/>
            <a:endParaRPr lang="ru-RU" sz="1200" dirty="0">
              <a:latin typeface="Montserrat" pitchFamily="2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AB27A5C-3EFE-57A3-4AF6-4A48225D41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674" r="13645"/>
          <a:stretch>
            <a:fillRect/>
          </a:stretch>
        </p:blipFill>
        <p:spPr>
          <a:xfrm>
            <a:off x="4872302" y="1286797"/>
            <a:ext cx="2553975" cy="27921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73FB15-5E65-4E05-C256-079D132F9199}"/>
              </a:ext>
            </a:extLst>
          </p:cNvPr>
          <p:cNvSpPr txBox="1"/>
          <p:nvPr/>
        </p:nvSpPr>
        <p:spPr>
          <a:xfrm>
            <a:off x="4332157" y="1182843"/>
            <a:ext cx="3527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b="1" dirty="0">
                <a:latin typeface="Montserrat" pitchFamily="2" charset="0"/>
              </a:rPr>
              <a:t>Сколько времени тратите на подбор гармонии?</a:t>
            </a:r>
          </a:p>
          <a:p>
            <a:pPr algn="just"/>
            <a:endParaRPr lang="ru-RU" sz="1200" dirty="0">
              <a:latin typeface="Montserrat" pitchFamily="2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D86DDB5-C715-AD15-CC5C-186D637FBB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6346" y="1295333"/>
            <a:ext cx="3240953" cy="26974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C65E25E-71CB-B280-8AC4-0D115A418C8A}"/>
              </a:ext>
            </a:extLst>
          </p:cNvPr>
          <p:cNvSpPr txBox="1"/>
          <p:nvPr/>
        </p:nvSpPr>
        <p:spPr>
          <a:xfrm>
            <a:off x="8740101" y="1192618"/>
            <a:ext cx="2305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latin typeface="Montserrat" pitchFamily="2" charset="0"/>
              </a:rPr>
              <a:t>Что бесит больше всего?</a:t>
            </a:r>
          </a:p>
          <a:p>
            <a:endParaRPr lang="ru-RU" sz="1200" dirty="0">
              <a:latin typeface="Montserrat" pitchFamily="2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0C78712-58A2-7C3D-63C1-53ED33C6E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030" y="4162028"/>
            <a:ext cx="2508081" cy="252727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2BA8F27-A775-A1B7-8523-361516FDB6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264" y="4162029"/>
            <a:ext cx="3694581" cy="252525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B06316A-4C24-608D-06A7-4717F662BC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1781" y="4130110"/>
            <a:ext cx="2482850" cy="25463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E0AF310-B326-7A3B-BBE7-67F15E7EC846}"/>
              </a:ext>
            </a:extLst>
          </p:cNvPr>
          <p:cNvSpPr txBox="1"/>
          <p:nvPr/>
        </p:nvSpPr>
        <p:spPr>
          <a:xfrm>
            <a:off x="487721" y="3899277"/>
            <a:ext cx="3453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latin typeface="Montserrat" pitchFamily="2" charset="0"/>
              </a:rPr>
              <a:t>Нужны ли трендовые сочетания 2026?</a:t>
            </a:r>
          </a:p>
          <a:p>
            <a:endParaRPr lang="ru-RU" sz="1200" dirty="0">
              <a:latin typeface="Montserra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F843EB-292B-6911-BEF6-730C9DBDD753}"/>
              </a:ext>
            </a:extLst>
          </p:cNvPr>
          <p:cNvSpPr txBox="1"/>
          <p:nvPr/>
        </p:nvSpPr>
        <p:spPr>
          <a:xfrm>
            <a:off x="4357475" y="3898313"/>
            <a:ext cx="372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Montserrat" pitchFamily="2" charset="0"/>
              </a:rPr>
              <a:t>Какие функции вы бы хотели видеть в приложении?</a:t>
            </a:r>
          </a:p>
          <a:p>
            <a:endParaRPr lang="ru-RU" sz="1200" dirty="0">
              <a:latin typeface="Montserrat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B31984-66AD-6E4D-DF0C-0A20C615C26C}"/>
              </a:ext>
            </a:extLst>
          </p:cNvPr>
          <p:cNvSpPr txBox="1"/>
          <p:nvPr/>
        </p:nvSpPr>
        <p:spPr>
          <a:xfrm>
            <a:off x="8417847" y="3899276"/>
            <a:ext cx="277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>
                <a:latin typeface="Montserrat" pitchFamily="2" charset="0"/>
              </a:rPr>
              <a:t>Какие сочетания ищете чаще?</a:t>
            </a:r>
          </a:p>
          <a:p>
            <a:endParaRPr lang="ru-RU" sz="1200" dirty="0">
              <a:latin typeface="Montserrat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D76F60-293D-96A7-D515-D78F72331280}"/>
              </a:ext>
            </a:extLst>
          </p:cNvPr>
          <p:cNvSpPr txBox="1"/>
          <p:nvPr/>
        </p:nvSpPr>
        <p:spPr>
          <a:xfrm>
            <a:off x="2319867" y="2238007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itchFamily="2" charset="0"/>
              </a:rPr>
              <a:t>41</a:t>
            </a:r>
            <a:r>
              <a:rPr lang="en-US" sz="1200" dirty="0">
                <a:latin typeface="Montserrat" pitchFamily="2" charset="0"/>
              </a:rPr>
              <a:t>,7</a:t>
            </a:r>
            <a:r>
              <a:rPr lang="ru-RU" sz="1200" dirty="0">
                <a:latin typeface="Montserrat" pitchFamily="2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906826-6E8E-7F99-2419-A23B2EAB5F4D}"/>
              </a:ext>
            </a:extLst>
          </p:cNvPr>
          <p:cNvSpPr txBox="1"/>
          <p:nvPr/>
        </p:nvSpPr>
        <p:spPr>
          <a:xfrm>
            <a:off x="1714171" y="2848904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itchFamily="2" charset="0"/>
              </a:rPr>
              <a:t>25%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0C9A92-C93F-76D7-0AFB-C339AC64E59C}"/>
              </a:ext>
            </a:extLst>
          </p:cNvPr>
          <p:cNvSpPr txBox="1"/>
          <p:nvPr/>
        </p:nvSpPr>
        <p:spPr>
          <a:xfrm>
            <a:off x="1314061" y="2267557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Montserrat" pitchFamily="2" charset="0"/>
              </a:rPr>
              <a:t>20,8</a:t>
            </a:r>
            <a:r>
              <a:rPr lang="en-US" sz="1200" dirty="0">
                <a:latin typeface="Montserrat" pitchFamily="2" charset="0"/>
              </a:rPr>
              <a:t>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FD14D3-148C-8348-C9C4-4D27024B2208}"/>
              </a:ext>
            </a:extLst>
          </p:cNvPr>
          <p:cNvSpPr txBox="1"/>
          <p:nvPr/>
        </p:nvSpPr>
        <p:spPr>
          <a:xfrm>
            <a:off x="1590279" y="1664699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12,5%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F00120-CFC2-9EEB-548B-526612DF605F}"/>
              </a:ext>
            </a:extLst>
          </p:cNvPr>
          <p:cNvSpPr txBox="1"/>
          <p:nvPr/>
        </p:nvSpPr>
        <p:spPr>
          <a:xfrm>
            <a:off x="6294638" y="2586744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66,7%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0F2429-82AB-D70E-E0D6-57B7175DE297}"/>
              </a:ext>
            </a:extLst>
          </p:cNvPr>
          <p:cNvSpPr txBox="1"/>
          <p:nvPr/>
        </p:nvSpPr>
        <p:spPr>
          <a:xfrm>
            <a:off x="5304038" y="198076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33,3%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354F0D-C279-01D1-90C9-0BE2D23AF125}"/>
              </a:ext>
            </a:extLst>
          </p:cNvPr>
          <p:cNvSpPr txBox="1"/>
          <p:nvPr/>
        </p:nvSpPr>
        <p:spPr>
          <a:xfrm>
            <a:off x="9997934" y="2311118"/>
            <a:ext cx="502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50%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A97384-6A21-55AD-0609-DC5109777C4F}"/>
              </a:ext>
            </a:extLst>
          </p:cNvPr>
          <p:cNvSpPr txBox="1"/>
          <p:nvPr/>
        </p:nvSpPr>
        <p:spPr>
          <a:xfrm>
            <a:off x="8919443" y="2491686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38,9%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2F9B8A-2042-BBE8-565F-5E52CCB2720C}"/>
              </a:ext>
            </a:extLst>
          </p:cNvPr>
          <p:cNvSpPr txBox="1"/>
          <p:nvPr/>
        </p:nvSpPr>
        <p:spPr>
          <a:xfrm>
            <a:off x="9225572" y="1586389"/>
            <a:ext cx="513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11,1%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75A721-1591-4CFB-A062-E14D43B71DD5}"/>
              </a:ext>
            </a:extLst>
          </p:cNvPr>
          <p:cNvSpPr txBox="1"/>
          <p:nvPr/>
        </p:nvSpPr>
        <p:spPr>
          <a:xfrm>
            <a:off x="9226044" y="4453275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14,3%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1AF4D4-2AD2-00BF-6307-F792C3A8CC38}"/>
              </a:ext>
            </a:extLst>
          </p:cNvPr>
          <p:cNvSpPr txBox="1"/>
          <p:nvPr/>
        </p:nvSpPr>
        <p:spPr>
          <a:xfrm>
            <a:off x="10106577" y="4872844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35,7%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EDEB52-DCB0-F91F-24E2-1FAF290297DD}"/>
              </a:ext>
            </a:extLst>
          </p:cNvPr>
          <p:cNvSpPr txBox="1"/>
          <p:nvPr/>
        </p:nvSpPr>
        <p:spPr>
          <a:xfrm>
            <a:off x="8919443" y="5120660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21,4%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89E970-2638-02CE-6E8F-FC5D16138900}"/>
              </a:ext>
            </a:extLst>
          </p:cNvPr>
          <p:cNvSpPr txBox="1"/>
          <p:nvPr/>
        </p:nvSpPr>
        <p:spPr>
          <a:xfrm>
            <a:off x="9561589" y="5719222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28,6%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8E180A-DC72-C54A-4420-DC61C85AF0AB}"/>
              </a:ext>
            </a:extLst>
          </p:cNvPr>
          <p:cNvSpPr txBox="1"/>
          <p:nvPr/>
        </p:nvSpPr>
        <p:spPr>
          <a:xfrm>
            <a:off x="5492993" y="4595845"/>
            <a:ext cx="580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17,2%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4882FE-CD29-3FC6-6C51-EB1B6EAAABEF}"/>
              </a:ext>
            </a:extLst>
          </p:cNvPr>
          <p:cNvSpPr txBox="1"/>
          <p:nvPr/>
        </p:nvSpPr>
        <p:spPr>
          <a:xfrm>
            <a:off x="6348746" y="478081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31%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4FF6D6-FF30-E884-B77D-2A04E0AD5639}"/>
              </a:ext>
            </a:extLst>
          </p:cNvPr>
          <p:cNvSpPr txBox="1"/>
          <p:nvPr/>
        </p:nvSpPr>
        <p:spPr>
          <a:xfrm>
            <a:off x="5242210" y="5259159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24,1%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64DDE2-30C1-C331-A3F0-C79D292E11C6}"/>
              </a:ext>
            </a:extLst>
          </p:cNvPr>
          <p:cNvSpPr txBox="1"/>
          <p:nvPr/>
        </p:nvSpPr>
        <p:spPr>
          <a:xfrm>
            <a:off x="5977020" y="5655643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27,6%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851BDE-B85A-C2FF-2CCF-C6F5FB01370D}"/>
              </a:ext>
            </a:extLst>
          </p:cNvPr>
          <p:cNvSpPr txBox="1"/>
          <p:nvPr/>
        </p:nvSpPr>
        <p:spPr>
          <a:xfrm>
            <a:off x="2372766" y="5526881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76,9%</a:t>
            </a:r>
            <a:endParaRPr lang="ru-RU" sz="1200" dirty="0"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8280A8-5531-3DFE-97DF-6BEECA9F1D55}"/>
              </a:ext>
            </a:extLst>
          </p:cNvPr>
          <p:cNvSpPr txBox="1"/>
          <p:nvPr/>
        </p:nvSpPr>
        <p:spPr>
          <a:xfrm>
            <a:off x="1582076" y="466334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0"/>
              </a:rPr>
              <a:t>23,1%</a:t>
            </a:r>
            <a:endParaRPr lang="ru-RU" sz="12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F23AE-10E7-287D-39AE-9166B954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2899FB-1EBA-9CE2-D75A-EF0B22FE84EB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87DF442-C8BB-27DE-3A36-79D687C865B8}"/>
              </a:ext>
            </a:extLst>
          </p:cNvPr>
          <p:cNvSpPr/>
          <p:nvPr/>
        </p:nvSpPr>
        <p:spPr>
          <a:xfrm>
            <a:off x="-22451" y="866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358947-12D4-F8E4-1FEE-3546B494D744}"/>
              </a:ext>
            </a:extLst>
          </p:cNvPr>
          <p:cNvSpPr txBox="1"/>
          <p:nvPr/>
        </p:nvSpPr>
        <p:spPr>
          <a:xfrm>
            <a:off x="3570143" y="440571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АНАЛИЗ СУЩЕСТВУЮЩИХ РЕШЕНИЙ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A2A2E-73FF-D46B-18C6-D10622BD04C6}"/>
              </a:ext>
            </a:extLst>
          </p:cNvPr>
          <p:cNvSpPr txBox="1"/>
          <p:nvPr/>
        </p:nvSpPr>
        <p:spPr>
          <a:xfrm>
            <a:off x="988253" y="1608310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0815CB-A87E-06A2-A3F6-5491B62240B7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BC06E3-5BCC-2A81-DEE5-F46F785AF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511409-DD43-4F37-5415-3FC06ED3D326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805061-DBFA-4486-D634-694E7C97F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1202D9-8E08-FEF1-681C-4B4024E801F7}"/>
              </a:ext>
            </a:extLst>
          </p:cNvPr>
          <p:cNvSpPr txBox="1"/>
          <p:nvPr/>
        </p:nvSpPr>
        <p:spPr>
          <a:xfrm>
            <a:off x="746612" y="5779916"/>
            <a:ext cx="109756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itchFamily="2" charset="0"/>
              </a:rPr>
              <a:t>Мое приложение</a:t>
            </a:r>
            <a:r>
              <a:rPr lang="ru-RU" sz="1600" dirty="0">
                <a:latin typeface="Montserrat" pitchFamily="2" charset="0"/>
              </a:rPr>
              <a:t>: </a:t>
            </a:r>
            <a:r>
              <a:rPr lang="ru-RU" dirty="0"/>
              <a:t>Мобильная камера + </a:t>
            </a:r>
            <a:r>
              <a:rPr lang="ru-RU" dirty="0" err="1"/>
              <a:t>Иттен</a:t>
            </a:r>
            <a:r>
              <a:rPr lang="ru-RU" dirty="0"/>
              <a:t> + </a:t>
            </a:r>
            <a:r>
              <a:rPr lang="en" dirty="0" err="1"/>
              <a:t>GigaChat</a:t>
            </a:r>
            <a:r>
              <a:rPr lang="ru-RU" dirty="0"/>
              <a:t> + Трендовые подборки</a:t>
            </a:r>
            <a:endParaRPr lang="ru-RU" sz="1600" b="1" dirty="0">
              <a:latin typeface="Montserrat" pitchFamily="2" charset="0"/>
            </a:endParaRPr>
          </a:p>
          <a:p>
            <a:r>
              <a:rPr lang="ru-RU" sz="1600" dirty="0">
                <a:latin typeface="Montserrat" pitchFamily="2" charset="0"/>
              </a:rPr>
              <a:t> 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2E413EE-5353-3CEF-CE09-C04608506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008886"/>
              </p:ext>
            </p:extLst>
          </p:nvPr>
        </p:nvGraphicFramePr>
        <p:xfrm>
          <a:off x="1294982" y="1506220"/>
          <a:ext cx="9306046" cy="38455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102015">
                  <a:extLst>
                    <a:ext uri="{9D8B030D-6E8A-4147-A177-3AD203B41FA5}">
                      <a16:colId xmlns:a16="http://schemas.microsoft.com/office/drawing/2014/main" val="572090125"/>
                    </a:ext>
                  </a:extLst>
                </a:gridCol>
                <a:gridCol w="2957333">
                  <a:extLst>
                    <a:ext uri="{9D8B030D-6E8A-4147-A177-3AD203B41FA5}">
                      <a16:colId xmlns:a16="http://schemas.microsoft.com/office/drawing/2014/main" val="273120543"/>
                    </a:ext>
                  </a:extLst>
                </a:gridCol>
                <a:gridCol w="3246698">
                  <a:extLst>
                    <a:ext uri="{9D8B030D-6E8A-4147-A177-3AD203B41FA5}">
                      <a16:colId xmlns:a16="http://schemas.microsoft.com/office/drawing/2014/main" val="499034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200" dirty="0"/>
                        <a:t>Конкуренты</a:t>
                      </a:r>
                      <a:endParaRPr lang="ru-RU" sz="120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Для чего</a:t>
                      </a:r>
                      <a:endParaRPr lang="ru-RU" sz="120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Минусы</a:t>
                      </a:r>
                      <a:endParaRPr lang="ru-RU" sz="1200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92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BYK Color </a:t>
                      </a:r>
                      <a:r>
                        <a:rPr lang="en" sz="12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iQC</a:t>
                      </a:r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Управление цветом для автопрома/красок, рекомендации по корректировке.</a:t>
                      </a:r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Компьютерное ПО + приборы (</a:t>
                      </a:r>
                      <a:r>
                        <a:rPr lang="ru-RU" sz="1200" b="0" dirty="0"/>
                        <a:t>₽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200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K+), 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нет мобильного приложения.</a:t>
                      </a:r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06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b="0" kern="1200" dirty="0" err="1">
                          <a:solidFill>
                            <a:schemeClr val="dk1"/>
                          </a:solidFill>
                          <a:effectLst/>
                        </a:rPr>
                        <a:t>Datacolor</a:t>
                      </a:r>
                      <a:r>
                        <a:rPr lang="en" sz="12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" sz="1200" b="0" kern="1200" dirty="0" err="1">
                          <a:solidFill>
                            <a:schemeClr val="dk1"/>
                          </a:solidFill>
                          <a:effectLst/>
                        </a:rPr>
                        <a:t>LightColor</a:t>
                      </a:r>
                      <a:r>
                        <a:rPr lang="en" sz="1200" b="0" kern="1200" dirty="0">
                          <a:solidFill>
                            <a:schemeClr val="dk1"/>
                          </a:solidFill>
                          <a:effectLst/>
                        </a:rPr>
                        <a:t> Meter</a:t>
                      </a:r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Мобильное 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app 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с 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Bluetooth-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измерителем, базовые советы по цвету.</a:t>
                      </a:r>
                      <a:endParaRPr lang="ru-RU" sz="1200" b="0" dirty="0"/>
                    </a:p>
                    <a:p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Физическое устройство (</a:t>
                      </a:r>
                      <a:r>
                        <a:rPr lang="ru-RU" sz="1200" b="0" dirty="0"/>
                        <a:t>₽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200+), точность ±2%, без ИИ/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ERP.</a:t>
                      </a:r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963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b="0" kern="1200" dirty="0" err="1">
                          <a:solidFill>
                            <a:schemeClr val="dk1"/>
                          </a:solidFill>
                          <a:effectLst/>
                        </a:rPr>
                        <a:t>Coolors.co</a:t>
                      </a:r>
                      <a:r>
                        <a:rPr lang="en" sz="1200" b="0" kern="1200" dirty="0">
                          <a:solidFill>
                            <a:schemeClr val="dk1"/>
                          </a:solidFill>
                          <a:effectLst/>
                        </a:rPr>
                        <a:t> app</a:t>
                      </a:r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Генерирует </a:t>
                      </a:r>
                      <a:r>
                        <a:rPr lang="ru-RU" sz="1200" b="0" kern="1200" dirty="0">
                          <a:solidFill>
                            <a:schemeClr val="dk1"/>
                          </a:solidFill>
                          <a:effectLst/>
                        </a:rPr>
                        <a:t>идеальные сочетания цветов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 по </a:t>
                      </a:r>
                      <a:r>
                        <a:rPr lang="ru-RU" sz="12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Иттену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(аналог, комплементарные, триада)</a:t>
                      </a:r>
                      <a:endParaRPr lang="ru-RU" sz="1200" b="0" dirty="0"/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нет промышленных цветов (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Pantone/BASF)</a:t>
                      </a:r>
                      <a:r>
                        <a:rPr lang="ru-RU" sz="1200" b="0" kern="1200" dirty="0">
                          <a:solidFill>
                            <a:schemeClr val="dk1"/>
                          </a:solidFill>
                          <a:effectLst/>
                        </a:rPr>
                        <a:t> Нет камеры для реального объекта — только готовые фото</a:t>
                      </a:r>
                    </a:p>
                    <a:p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64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2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Colormind</a:t>
                      </a:r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ИИ генерирует палитры по фото/трендам. Учитывает моду (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UI/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фэшн).</a:t>
                      </a:r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Только онлайн (нет приложения). Нет </a:t>
                      </a:r>
                      <a:r>
                        <a:rPr lang="en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Pantone/CMYK. </a:t>
                      </a:r>
                      <a:r>
                        <a:rPr lang="ru-RU" sz="12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Генерация случайная — часто "странные" сочетания.</a:t>
                      </a:r>
                      <a:endParaRPr lang="ru-RU" sz="1200" b="0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041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48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84D420-7DE3-1048-F6F7-0B45CD82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CFA7EB7-07D6-3D4E-29BF-46BF398C22BA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938CDC2-751A-10E2-DC2D-5D1067D3B17E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0A3E39-FD22-E60C-AC0D-5CCF2BA065B6}"/>
              </a:ext>
            </a:extLst>
          </p:cNvPr>
          <p:cNvSpPr txBox="1"/>
          <p:nvPr/>
        </p:nvSpPr>
        <p:spPr>
          <a:xfrm>
            <a:off x="988253" y="1608310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1A15E8-365F-C2DF-7BC6-365408C98FCA}"/>
              </a:ext>
            </a:extLst>
          </p:cNvPr>
          <p:cNvSpPr txBox="1"/>
          <p:nvPr/>
        </p:nvSpPr>
        <p:spPr>
          <a:xfrm>
            <a:off x="546323" y="1537170"/>
            <a:ext cx="3707863" cy="5847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spc="25" dirty="0">
                <a:latin typeface="Montserrat" panose="00000500000000000000" pitchFamily="2" charset="-52"/>
                <a:ea typeface="Tahoma" panose="020B0604030504040204" pitchFamily="34" charset="0"/>
                <a:cs typeface="Arial" panose="020B0604020202020204" pitchFamily="34" charset="0"/>
              </a:rPr>
              <a:t>1 </a:t>
            </a:r>
            <a:r>
              <a:rPr lang="ru-RU" sz="1600" b="1" spc="25" dirty="0">
                <a:latin typeface="Montserrat" panose="00000500000000000000" pitchFamily="2" charset="-52"/>
                <a:ea typeface="Tahoma" panose="020B0604030504040204" pitchFamily="34" charset="0"/>
                <a:cs typeface="Arial" panose="020B0604020202020204" pitchFamily="34" charset="0"/>
              </a:rPr>
              <a:t>шаг</a:t>
            </a:r>
          </a:p>
          <a:p>
            <a:r>
              <a:rPr lang="ru-RU" sz="1600" spc="25" dirty="0">
                <a:latin typeface="Montserrat" panose="00000500000000000000" pitchFamily="2" charset="-52"/>
                <a:ea typeface="Tahoma" panose="020B0604030504040204" pitchFamily="34" charset="0"/>
                <a:cs typeface="Arial" panose="020B0604020202020204" pitchFamily="34" charset="0"/>
              </a:rPr>
              <a:t>Захват камеры(</a:t>
            </a:r>
            <a:r>
              <a:rPr lang="en-US" sz="1600" spc="25" dirty="0" err="1">
                <a:latin typeface="Montserrat" panose="00000500000000000000" pitchFamily="2" charset="-52"/>
                <a:ea typeface="Tahoma" panose="020B0604030504040204" pitchFamily="34" charset="0"/>
                <a:cs typeface="Arial" panose="020B0604020202020204" pitchFamily="34" charset="0"/>
              </a:rPr>
              <a:t>CameraX</a:t>
            </a:r>
            <a:r>
              <a:rPr lang="en-US" sz="1600" spc="25" dirty="0">
                <a:latin typeface="Montserrat" panose="00000500000000000000" pitchFamily="2" charset="-52"/>
                <a:ea typeface="Tahoma" panose="020B0604030504040204" pitchFamily="34" charset="0"/>
                <a:cs typeface="Arial" panose="020B0604020202020204" pitchFamily="34" charset="0"/>
              </a:rPr>
              <a:t>)</a:t>
            </a:r>
            <a:r>
              <a:rPr lang="ru-RU" sz="1600" spc="25" dirty="0">
                <a:latin typeface="Montserrat" panose="00000500000000000000" pitchFamily="2" charset="-52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endParaRPr lang="ru-RU" sz="1600" dirty="0"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FD16D0C-E1FD-FE48-FB4B-7CCBFF0C6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028559-E36A-6878-8B6C-FD89FFEC132B}"/>
              </a:ext>
            </a:extLst>
          </p:cNvPr>
          <p:cNvSpPr txBox="1"/>
          <p:nvPr/>
        </p:nvSpPr>
        <p:spPr>
          <a:xfrm>
            <a:off x="4710513" y="41581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ПРИНЦИП РАБОТЫ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6B17E-A3F2-0E7C-EDDF-973ED2B2E9C8}"/>
              </a:ext>
            </a:extLst>
          </p:cNvPr>
          <p:cNvSpPr txBox="1"/>
          <p:nvPr/>
        </p:nvSpPr>
        <p:spPr>
          <a:xfrm>
            <a:off x="2639028" y="47687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73F25690-FE47-DA4A-48D2-C44D8BBC97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2393" y="723598"/>
            <a:ext cx="884712" cy="88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713483C1-4D36-7B3D-86DA-5F4454D3E2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7462"/>
            <a:ext cx="3263938" cy="326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C1EB307C-0CFD-9628-0DAF-0C4CB8D46B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1466603" y="3739655"/>
            <a:ext cx="1466603" cy="146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E36CA6-CC14-66F8-239D-574F23D2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6817E8-9BB4-4BB9-48D9-10A01CFBFFCA}"/>
              </a:ext>
            </a:extLst>
          </p:cNvPr>
          <p:cNvSpPr txBox="1"/>
          <p:nvPr/>
        </p:nvSpPr>
        <p:spPr>
          <a:xfrm>
            <a:off x="431922" y="3717733"/>
            <a:ext cx="3091486" cy="5847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2 шаг</a:t>
            </a:r>
          </a:p>
          <a:p>
            <a:r>
              <a:rPr lang="ru-RU" sz="1600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Извлечение Цвета 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D4E7EBC2-61D5-38BB-2898-98EDBD75F18C}"/>
              </a:ext>
            </a:extLst>
          </p:cNvPr>
          <p:cNvCxnSpPr>
            <a:cxnSpLocks/>
          </p:cNvCxnSpPr>
          <p:nvPr/>
        </p:nvCxnSpPr>
        <p:spPr>
          <a:xfrm flipH="1">
            <a:off x="1852551" y="2326399"/>
            <a:ext cx="368135" cy="1301821"/>
          </a:xfrm>
          <a:prstGeom prst="straightConnector1">
            <a:avLst/>
          </a:prstGeom>
          <a:ln w="57150">
            <a:solidFill>
              <a:srgbClr val="01AB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053D555-3A8E-1469-AD2B-EB3431E0E953}"/>
              </a:ext>
            </a:extLst>
          </p:cNvPr>
          <p:cNvSpPr txBox="1"/>
          <p:nvPr/>
        </p:nvSpPr>
        <p:spPr>
          <a:xfrm>
            <a:off x="3842574" y="1341734"/>
            <a:ext cx="3699819" cy="5847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2" charset="0"/>
              </a:rPr>
              <a:t>3 </a:t>
            </a:r>
            <a:r>
              <a:rPr lang="ru-RU" sz="1600" b="1" dirty="0">
                <a:latin typeface="Montserrat" pitchFamily="2" charset="0"/>
              </a:rPr>
              <a:t>шаг</a:t>
            </a:r>
          </a:p>
          <a:p>
            <a:r>
              <a:rPr lang="ru-RU" sz="1600" dirty="0">
                <a:latin typeface="Montserrat" pitchFamily="2" charset="0"/>
              </a:rPr>
              <a:t>Круг </a:t>
            </a:r>
            <a:r>
              <a:rPr lang="ru-RU" sz="1600" dirty="0" err="1">
                <a:latin typeface="Montserrat" pitchFamily="2" charset="0"/>
              </a:rPr>
              <a:t>Иттена</a:t>
            </a:r>
            <a:endParaRPr lang="ru-RU" sz="1600" dirty="0">
              <a:latin typeface="Montserrat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594F08-F482-F7F5-B63A-67A909B41F76}"/>
              </a:ext>
            </a:extLst>
          </p:cNvPr>
          <p:cNvSpPr txBox="1"/>
          <p:nvPr/>
        </p:nvSpPr>
        <p:spPr>
          <a:xfrm>
            <a:off x="6327466" y="4953436"/>
            <a:ext cx="2880072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4 шаг</a:t>
            </a:r>
          </a:p>
          <a:p>
            <a:r>
              <a:rPr lang="ru-RU" sz="1600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Окно сочетаний по клику на кнопку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DCE244-C7BD-3781-F9FF-1CE9A67765A9}"/>
              </a:ext>
            </a:extLst>
          </p:cNvPr>
          <p:cNvSpPr txBox="1"/>
          <p:nvPr/>
        </p:nvSpPr>
        <p:spPr>
          <a:xfrm>
            <a:off x="7958572" y="1297305"/>
            <a:ext cx="2880072" cy="5847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5 шаг</a:t>
            </a:r>
          </a:p>
          <a:p>
            <a:r>
              <a:rPr lang="ru-RU" sz="1600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Рекомендации от ИИ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5913EC9-C133-5656-8483-FE4DCEA82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58" y="4499708"/>
            <a:ext cx="4278591" cy="9664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6B05359-E02C-29DE-AE89-3FDD00E37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298" y="2121945"/>
            <a:ext cx="3331324" cy="1646928"/>
          </a:xfrm>
          <a:prstGeom prst="rect">
            <a:avLst/>
          </a:prstGeom>
        </p:spPr>
      </p:pic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0168C9C-EE7B-A297-C740-D098D48251A1}"/>
              </a:ext>
            </a:extLst>
          </p:cNvPr>
          <p:cNvCxnSpPr>
            <a:cxnSpLocks/>
          </p:cNvCxnSpPr>
          <p:nvPr/>
        </p:nvCxnSpPr>
        <p:spPr>
          <a:xfrm flipV="1">
            <a:off x="2871872" y="3389727"/>
            <a:ext cx="845105" cy="510234"/>
          </a:xfrm>
          <a:prstGeom prst="straightConnector1">
            <a:avLst/>
          </a:prstGeom>
          <a:ln w="57150">
            <a:solidFill>
              <a:srgbClr val="01AB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B69552FA-846A-E0FE-B28B-C4B78FDDF895}"/>
              </a:ext>
            </a:extLst>
          </p:cNvPr>
          <p:cNvCxnSpPr>
            <a:cxnSpLocks/>
          </p:cNvCxnSpPr>
          <p:nvPr/>
        </p:nvCxnSpPr>
        <p:spPr>
          <a:xfrm>
            <a:off x="5818909" y="3964309"/>
            <a:ext cx="700644" cy="838264"/>
          </a:xfrm>
          <a:prstGeom prst="straightConnector1">
            <a:avLst/>
          </a:prstGeom>
          <a:ln w="57150">
            <a:solidFill>
              <a:srgbClr val="01AB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379164F-FDE7-A38B-2B21-AED0D2BDB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726" y="2071034"/>
            <a:ext cx="4115528" cy="1403995"/>
          </a:xfrm>
          <a:prstGeom prst="rect">
            <a:avLst/>
          </a:prstGeom>
        </p:spPr>
      </p:pic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70DB27A-704D-82DA-24FC-99C248D2D7A5}"/>
              </a:ext>
            </a:extLst>
          </p:cNvPr>
          <p:cNvCxnSpPr>
            <a:cxnSpLocks/>
          </p:cNvCxnSpPr>
          <p:nvPr/>
        </p:nvCxnSpPr>
        <p:spPr>
          <a:xfrm flipV="1">
            <a:off x="7957984" y="3942219"/>
            <a:ext cx="684684" cy="993756"/>
          </a:xfrm>
          <a:prstGeom prst="straightConnector1">
            <a:avLst/>
          </a:prstGeom>
          <a:ln w="57150">
            <a:solidFill>
              <a:srgbClr val="01AB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3CC0FD-A48F-7B60-86DB-F1E2A743ABDA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16BF5-AAE0-C0ED-8D98-B1374003BBA9}"/>
              </a:ext>
            </a:extLst>
          </p:cNvPr>
          <p:cNvSpPr txBox="1"/>
          <p:nvPr/>
        </p:nvSpPr>
        <p:spPr>
          <a:xfrm>
            <a:off x="9355429" y="5516823"/>
            <a:ext cx="2880072" cy="5847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6 шаг</a:t>
            </a:r>
          </a:p>
          <a:p>
            <a:r>
              <a:rPr lang="ru-RU" sz="1600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Трендовая подборка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99284D2-0631-DF39-0C31-9F43254CDE19}"/>
              </a:ext>
            </a:extLst>
          </p:cNvPr>
          <p:cNvCxnSpPr>
            <a:cxnSpLocks/>
          </p:cNvCxnSpPr>
          <p:nvPr/>
        </p:nvCxnSpPr>
        <p:spPr>
          <a:xfrm>
            <a:off x="9942653" y="3750323"/>
            <a:ext cx="594193" cy="1491206"/>
          </a:xfrm>
          <a:prstGeom prst="straightConnector1">
            <a:avLst/>
          </a:prstGeom>
          <a:ln w="57150">
            <a:solidFill>
              <a:srgbClr val="01AB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93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EB96B-5BAA-EAC5-3346-831A415B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CB72C78-EDF1-3508-9806-1014DF20BFB5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D4A4B2E-3476-3F2D-E4FC-7727E81686E1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E3ACD-EDFF-06CA-067F-0BBEC9141CF0}"/>
              </a:ext>
            </a:extLst>
          </p:cNvPr>
          <p:cNvSpPr txBox="1"/>
          <p:nvPr/>
        </p:nvSpPr>
        <p:spPr>
          <a:xfrm>
            <a:off x="5425882" y="43507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itchFamily="2" charset="0"/>
                <a:ea typeface="Roboto" panose="02000000000000000000" pitchFamily="2" charset="0"/>
                <a:cs typeface="Tahoma" panose="020B0604030504040204" pitchFamily="34" charset="0"/>
              </a:rPr>
              <a:t>РЕСУРСЫ</a:t>
            </a:r>
            <a:endParaRPr lang="ru-RU" sz="1600" b="1" dirty="0">
              <a:solidFill>
                <a:schemeClr val="bg1"/>
              </a:solidFill>
              <a:latin typeface="Montserrat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67F52-B24B-1EA6-5834-147E5F15A7A8}"/>
              </a:ext>
            </a:extLst>
          </p:cNvPr>
          <p:cNvSpPr txBox="1"/>
          <p:nvPr/>
        </p:nvSpPr>
        <p:spPr>
          <a:xfrm>
            <a:off x="988253" y="224028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FF28C5-F8AA-EED5-1B7F-7EC739D064ED}"/>
              </a:ext>
            </a:extLst>
          </p:cNvPr>
          <p:cNvSpPr txBox="1"/>
          <p:nvPr/>
        </p:nvSpPr>
        <p:spPr>
          <a:xfrm>
            <a:off x="545955" y="290319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2396A3-5754-2880-9869-369C0AF23468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A07A953-5C17-EE7A-8A46-912576263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C393B8-7BDF-C281-B4C3-4E632370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2DF514-3B40-9F00-0F7F-A29DF05EC49D}"/>
              </a:ext>
            </a:extLst>
          </p:cNvPr>
          <p:cNvSpPr txBox="1"/>
          <p:nvPr/>
        </p:nvSpPr>
        <p:spPr>
          <a:xfrm>
            <a:off x="6246421" y="-13181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332CA-3DDD-DFFD-C163-D97D01B77225}"/>
              </a:ext>
            </a:extLst>
          </p:cNvPr>
          <p:cNvSpPr txBox="1"/>
          <p:nvPr/>
        </p:nvSpPr>
        <p:spPr>
          <a:xfrm>
            <a:off x="281692" y="1510455"/>
            <a:ext cx="30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Montserrat" pitchFamily="2" charset="0"/>
              </a:rPr>
              <a:t>Основные технологии: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5F222-668E-0798-3EE8-44FD23969C69}"/>
              </a:ext>
            </a:extLst>
          </p:cNvPr>
          <p:cNvSpPr txBox="1"/>
          <p:nvPr/>
        </p:nvSpPr>
        <p:spPr>
          <a:xfrm>
            <a:off x="281692" y="2022103"/>
            <a:ext cx="48840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b="1" dirty="0">
                <a:latin typeface="Montserrat" pitchFamily="2" charset="0"/>
              </a:rPr>
              <a:t>Kotlin</a:t>
            </a:r>
            <a:r>
              <a:rPr lang="en" sz="1600" dirty="0">
                <a:latin typeface="Montserrat" pitchFamily="2" charset="0"/>
              </a:rPr>
              <a:t> — </a:t>
            </a:r>
            <a:r>
              <a:rPr lang="ru-RU" sz="1600" dirty="0">
                <a:latin typeface="Montserrat" pitchFamily="2" charset="0"/>
              </a:rPr>
              <a:t>основной язык разработки </a:t>
            </a:r>
            <a:r>
              <a:rPr lang="en" sz="1600" dirty="0">
                <a:latin typeface="Montserrat" pitchFamily="2" charset="0"/>
              </a:rPr>
              <a:t>Android </a:t>
            </a:r>
            <a:r>
              <a:rPr lang="ru-RU" sz="1600" dirty="0">
                <a:latin typeface="Montserrat" pitchFamily="2" charset="0"/>
              </a:rPr>
              <a:t>приложения</a:t>
            </a:r>
          </a:p>
          <a:p>
            <a:r>
              <a:rPr lang="en" sz="1600" b="1" dirty="0" err="1">
                <a:latin typeface="Montserrat" pitchFamily="2" charset="0"/>
              </a:rPr>
              <a:t>CameraX</a:t>
            </a:r>
            <a:r>
              <a:rPr lang="en" sz="1600" dirty="0">
                <a:latin typeface="Montserrat" pitchFamily="2" charset="0"/>
              </a:rPr>
              <a:t> — </a:t>
            </a:r>
            <a:r>
              <a:rPr lang="ru-RU" sz="1600" dirty="0">
                <a:latin typeface="Montserrat" pitchFamily="2" charset="0"/>
              </a:rPr>
              <a:t>захват видео</a:t>
            </a:r>
            <a:r>
              <a:rPr lang="en" sz="1600" dirty="0">
                <a:latin typeface="Montserrat" pitchFamily="2" charset="0"/>
              </a:rPr>
              <a:t> + </a:t>
            </a:r>
            <a:r>
              <a:rPr lang="ru-RU" sz="1600" dirty="0">
                <a:latin typeface="Montserrat" pitchFamily="2" charset="0"/>
              </a:rPr>
              <a:t>детекция объектов</a:t>
            </a:r>
          </a:p>
          <a:p>
            <a:r>
              <a:rPr lang="en" sz="1600" b="1" dirty="0">
                <a:latin typeface="Montserrat" pitchFamily="2" charset="0"/>
              </a:rPr>
              <a:t>Room Database </a:t>
            </a:r>
            <a:r>
              <a:rPr lang="en" sz="1600" dirty="0">
                <a:latin typeface="Montserrat" pitchFamily="2" charset="0"/>
              </a:rPr>
              <a:t>— </a:t>
            </a:r>
            <a:r>
              <a:rPr lang="ru-RU" sz="1600" dirty="0">
                <a:latin typeface="Montserrat" pitchFamily="2" charset="0"/>
              </a:rPr>
              <a:t>локальное хранение палитр (.</a:t>
            </a:r>
            <a:r>
              <a:rPr lang="en" sz="1600" dirty="0" err="1">
                <a:latin typeface="Montserrat" pitchFamily="2" charset="0"/>
              </a:rPr>
              <a:t>aco</a:t>
            </a:r>
            <a:r>
              <a:rPr lang="en" sz="1600" dirty="0">
                <a:latin typeface="Montserrat" pitchFamily="2" charset="0"/>
              </a:rPr>
              <a:t>, JSON)</a:t>
            </a:r>
          </a:p>
          <a:p>
            <a:r>
              <a:rPr lang="en" sz="1600" b="1" dirty="0" err="1">
                <a:latin typeface="Montserrat" pitchFamily="2" charset="0"/>
              </a:rPr>
              <a:t>GigaChat</a:t>
            </a:r>
            <a:r>
              <a:rPr lang="en" sz="1600" b="1" dirty="0">
                <a:latin typeface="Montserrat" pitchFamily="2" charset="0"/>
              </a:rPr>
              <a:t> API </a:t>
            </a:r>
            <a:r>
              <a:rPr lang="en" sz="1600" dirty="0">
                <a:latin typeface="Montserrat" pitchFamily="2" charset="0"/>
              </a:rPr>
              <a:t>— </a:t>
            </a:r>
            <a:r>
              <a:rPr lang="ru-RU" sz="1600" dirty="0">
                <a:latin typeface="Montserrat" pitchFamily="2" charset="0"/>
              </a:rPr>
              <a:t>генерация </a:t>
            </a:r>
            <a:r>
              <a:rPr lang="ru-RU" sz="1600" dirty="0" err="1">
                <a:latin typeface="Montserrat" pitchFamily="2" charset="0"/>
              </a:rPr>
              <a:t>реконемендаций</a:t>
            </a:r>
            <a:endParaRPr lang="ru-RU" sz="1600" dirty="0">
              <a:latin typeface="Montserrat" pitchFamily="2" charset="0"/>
            </a:endParaRPr>
          </a:p>
        </p:txBody>
      </p:sp>
      <p:pic>
        <p:nvPicPr>
          <p:cNvPr id="18" name="Объект 4">
            <a:extLst>
              <a:ext uri="{FF2B5EF4-FFF2-40B4-BE49-F238E27FC236}">
                <a16:creationId xmlns:a16="http://schemas.microsoft.com/office/drawing/2014/main" id="{9A9CD46F-8D4A-8C4C-8067-38F86ED40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47" y="1652954"/>
            <a:ext cx="2567178" cy="5701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050543-4FC6-F816-CC67-D98122057F4E}"/>
              </a:ext>
            </a:extLst>
          </p:cNvPr>
          <p:cNvSpPr txBox="1"/>
          <p:nvPr/>
        </p:nvSpPr>
        <p:spPr>
          <a:xfrm>
            <a:off x="6431152" y="3552562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Montserrat" pitchFamily="2" charset="0"/>
              </a:rPr>
              <a:t>Библиотеки: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17E4B-746E-B0A6-0982-937181749DB7}"/>
              </a:ext>
            </a:extLst>
          </p:cNvPr>
          <p:cNvSpPr txBox="1"/>
          <p:nvPr/>
        </p:nvSpPr>
        <p:spPr>
          <a:xfrm>
            <a:off x="6431152" y="3992268"/>
            <a:ext cx="53241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b="1" dirty="0">
                <a:latin typeface="Montserrat" pitchFamily="2" charset="0"/>
              </a:rPr>
              <a:t>Jetpack Compose</a:t>
            </a:r>
            <a:r>
              <a:rPr lang="ru-RU" sz="1600" b="1" dirty="0">
                <a:latin typeface="Montserrat" pitchFamily="2" charset="0"/>
              </a:rPr>
              <a:t> </a:t>
            </a:r>
            <a:r>
              <a:rPr lang="ru-RU" sz="1600" dirty="0">
                <a:latin typeface="Montserrat" pitchFamily="2" charset="0"/>
              </a:rPr>
              <a:t>- Современный </a:t>
            </a:r>
            <a:r>
              <a:rPr lang="en" sz="1600" dirty="0">
                <a:latin typeface="Montserrat" pitchFamily="2" charset="0"/>
              </a:rPr>
              <a:t>UI</a:t>
            </a:r>
            <a:endParaRPr lang="ru-RU" sz="1600" dirty="0">
              <a:latin typeface="Montserrat" pitchFamily="2" charset="0"/>
            </a:endParaRPr>
          </a:p>
          <a:p>
            <a:r>
              <a:rPr lang="en" sz="1600" b="1" dirty="0">
                <a:latin typeface="Montserrat" pitchFamily="2" charset="0"/>
              </a:rPr>
              <a:t>Hilt</a:t>
            </a:r>
            <a:r>
              <a:rPr lang="ru-RU" sz="1600" dirty="0">
                <a:latin typeface="Montserrat" pitchFamily="2" charset="0"/>
              </a:rPr>
              <a:t> – Внедрение зависимостей: </a:t>
            </a:r>
            <a:r>
              <a:rPr lang="en" sz="1600" dirty="0" err="1">
                <a:latin typeface="Montserrat" pitchFamily="2" charset="0"/>
              </a:rPr>
              <a:t>CameraX</a:t>
            </a:r>
            <a:r>
              <a:rPr lang="en" sz="1600" dirty="0">
                <a:latin typeface="Montserrat" pitchFamily="2" charset="0"/>
              </a:rPr>
              <a:t>, Room, </a:t>
            </a:r>
            <a:r>
              <a:rPr lang="en" sz="1600" dirty="0" err="1">
                <a:latin typeface="Montserrat" pitchFamily="2" charset="0"/>
              </a:rPr>
              <a:t>GigaChat</a:t>
            </a:r>
            <a:endParaRPr lang="ru-RU" sz="1600" dirty="0">
              <a:latin typeface="Montserrat" pitchFamily="2" charset="0"/>
            </a:endParaRPr>
          </a:p>
          <a:p>
            <a:r>
              <a:rPr lang="en" sz="1600" b="1" dirty="0">
                <a:latin typeface="Montserrat" pitchFamily="2" charset="0"/>
              </a:rPr>
              <a:t>OpenCV Android</a:t>
            </a:r>
            <a:r>
              <a:rPr lang="ru-RU" sz="1600" b="1" dirty="0">
                <a:latin typeface="Montserrat" pitchFamily="2" charset="0"/>
              </a:rPr>
              <a:t> </a:t>
            </a:r>
            <a:r>
              <a:rPr lang="ru-RU" sz="1600" dirty="0">
                <a:latin typeface="Montserrat" pitchFamily="2" charset="0"/>
              </a:rPr>
              <a:t>- </a:t>
            </a:r>
            <a:r>
              <a:rPr lang="en" sz="1600" dirty="0">
                <a:latin typeface="Montserrat" pitchFamily="2" charset="0"/>
              </a:rPr>
              <a:t>k-means </a:t>
            </a:r>
            <a:r>
              <a:rPr lang="ru-RU" sz="1600" dirty="0">
                <a:latin typeface="Montserrat" pitchFamily="2" charset="0"/>
              </a:rPr>
              <a:t>кластеризация: извлечение доминирующего цвета</a:t>
            </a:r>
          </a:p>
          <a:p>
            <a:r>
              <a:rPr lang="en" sz="1600" b="1" dirty="0" err="1">
                <a:latin typeface="Montserrat" pitchFamily="2" charset="0"/>
              </a:rPr>
              <a:t>Kotlinx</a:t>
            </a:r>
            <a:r>
              <a:rPr lang="en" sz="1600" b="1" dirty="0">
                <a:latin typeface="Montserrat" pitchFamily="2" charset="0"/>
              </a:rPr>
              <a:t> Serialization</a:t>
            </a:r>
            <a:r>
              <a:rPr lang="ru-RU" sz="1600" b="1" dirty="0">
                <a:latin typeface="Montserrat" pitchFamily="2" charset="0"/>
              </a:rPr>
              <a:t> </a:t>
            </a:r>
            <a:r>
              <a:rPr lang="ru-RU" sz="1600" dirty="0">
                <a:latin typeface="Montserrat" pitchFamily="2" charset="0"/>
              </a:rPr>
              <a:t>- Парсинг </a:t>
            </a:r>
            <a:r>
              <a:rPr lang="en" sz="1600" dirty="0">
                <a:latin typeface="Montserrat" pitchFamily="2" charset="0"/>
              </a:rPr>
              <a:t>JSON </a:t>
            </a:r>
            <a:r>
              <a:rPr lang="ru-RU" sz="1600" dirty="0">
                <a:latin typeface="Montserrat" pitchFamily="2" charset="0"/>
              </a:rPr>
              <a:t>ответов </a:t>
            </a:r>
            <a:r>
              <a:rPr lang="en" sz="1600" dirty="0" err="1">
                <a:latin typeface="Montserrat" pitchFamily="2" charset="0"/>
              </a:rPr>
              <a:t>GigaChat</a:t>
            </a:r>
            <a:endParaRPr lang="ru-RU" sz="1600" dirty="0">
              <a:latin typeface="Montserrat" pitchFamily="2" charset="0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AD6F91EE-C4C6-86B9-D5A3-678F4CBA5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604" y="1849009"/>
            <a:ext cx="1629576" cy="16295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0478F44-598B-72FC-0BF0-4F9DA2278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4967" y="3890740"/>
            <a:ext cx="4091454" cy="1576127"/>
          </a:xfrm>
          <a:prstGeom prst="rect">
            <a:avLst/>
          </a:prstGeom>
        </p:spPr>
      </p:pic>
      <p:pic>
        <p:nvPicPr>
          <p:cNvPr id="23" name="Picture 6" descr="ГигаЧат - Скачать логотип в векторе SVG или PNG без фона">
            <a:extLst>
              <a:ext uri="{FF2B5EF4-FFF2-40B4-BE49-F238E27FC236}">
                <a16:creationId xmlns:a16="http://schemas.microsoft.com/office/drawing/2014/main" id="{0CCD541D-F890-70EE-17F4-1A71F330D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92" y="5347545"/>
            <a:ext cx="2862062" cy="88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26BCA42-9629-2D94-1F93-F41142CAA5C9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772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1B6F-F16E-81DB-8FAA-6C3DEA89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8C515D8-402D-993F-D670-76191307691A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9F0C173-0022-CD16-51E6-897E67945FDB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E3D1E-7121-4D7D-DDA2-AF0D87D3CF4E}"/>
              </a:ext>
            </a:extLst>
          </p:cNvPr>
          <p:cNvSpPr txBox="1"/>
          <p:nvPr/>
        </p:nvSpPr>
        <p:spPr>
          <a:xfrm>
            <a:off x="5425882" y="43507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itchFamily="2" charset="0"/>
                <a:ea typeface="Roboto" panose="02000000000000000000" pitchFamily="2" charset="0"/>
                <a:cs typeface="Tahoma" panose="020B0604030504040204" pitchFamily="34" charset="0"/>
              </a:rPr>
              <a:t>РЕЗУЛЬТАТ</a:t>
            </a:r>
            <a:endParaRPr lang="ru-RU" sz="1600" b="1" dirty="0">
              <a:solidFill>
                <a:schemeClr val="bg1"/>
              </a:solidFill>
              <a:latin typeface="Montserrat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6E957E-5896-F829-01AD-9F37B1D60F0F}"/>
              </a:ext>
            </a:extLst>
          </p:cNvPr>
          <p:cNvSpPr txBox="1"/>
          <p:nvPr/>
        </p:nvSpPr>
        <p:spPr>
          <a:xfrm>
            <a:off x="988253" y="224028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128F87-FF76-2431-861A-F00C20F3EE6E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B51B1-2C90-7861-A608-CF960BCCA167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5709E6-80A0-9F21-84AD-8A6C22D55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4838C3-C2C4-6CDA-8CBB-59DD55804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FD8B74-00A8-A9EF-43E5-91CF6C1AF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02" y="1538167"/>
            <a:ext cx="2262304" cy="502734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4C7DA5D-3518-4486-191E-AA6F058D6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677" y="1538167"/>
            <a:ext cx="2262305" cy="502734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55CC9B7-0532-23A8-26C8-F6C8E4F59F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0453" y="1509042"/>
            <a:ext cx="2262305" cy="50273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DB5A45-BF38-5DAF-0589-D91AA72D9797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93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424C2-C5DF-D98C-A49A-190D13F6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D9E29E-E8F6-FF22-3DB8-2B02D739352D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0B09092-2837-6D84-3761-7B0C3D0AF044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7BCF3-7316-A745-7313-430292FD2E23}"/>
              </a:ext>
            </a:extLst>
          </p:cNvPr>
          <p:cNvSpPr txBox="1"/>
          <p:nvPr/>
        </p:nvSpPr>
        <p:spPr>
          <a:xfrm>
            <a:off x="5425882" y="43507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itchFamily="2" charset="0"/>
                <a:ea typeface="Roboto" panose="02000000000000000000" pitchFamily="2" charset="0"/>
                <a:cs typeface="Tahoma" panose="020B0604030504040204" pitchFamily="34" charset="0"/>
              </a:rPr>
              <a:t>РЕЗУЛЬТАТ</a:t>
            </a:r>
            <a:endParaRPr lang="ru-RU" sz="1600" b="1" dirty="0">
              <a:solidFill>
                <a:schemeClr val="bg1"/>
              </a:solidFill>
              <a:latin typeface="Montserrat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C8337-B3B8-9189-D0ED-C92CD8282366}"/>
              </a:ext>
            </a:extLst>
          </p:cNvPr>
          <p:cNvSpPr txBox="1"/>
          <p:nvPr/>
        </p:nvSpPr>
        <p:spPr>
          <a:xfrm>
            <a:off x="988253" y="224028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FC0DDF-42B7-C35B-4ACF-8009946B42A2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72EC9B-33D2-4D15-E58B-A9A6C491E227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6BFD644-16F4-1798-25E4-ED069C15E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29CABF-9109-929F-0FE7-E23F44510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46CF30-2E46-139D-4F6E-9F6ED37D1D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1029" y="1538166"/>
            <a:ext cx="2262304" cy="502734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8EFF42D-01D2-BA15-8816-A3F19E6CF7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16121" y="1538165"/>
            <a:ext cx="2262304" cy="502734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F813AE5-E5F6-AC1E-4180-3B9DFD3637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1213" y="1538165"/>
            <a:ext cx="2262305" cy="50273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3BC562-D110-DD6F-ACCE-8E07DCC107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1870" y="1538165"/>
            <a:ext cx="2262306" cy="50273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D25F13-6EAE-DB72-FB5C-2E300475DE82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133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44A7D-0609-2B9C-3AD5-F6CBC7D7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09D3823-3E2A-54DD-CF39-B3B810845820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A29D1C-A551-E3FC-AB0F-F3F08496BF06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305330-5A70-537E-FD4D-D5217D06484E}"/>
              </a:ext>
            </a:extLst>
          </p:cNvPr>
          <p:cNvSpPr txBox="1"/>
          <p:nvPr/>
        </p:nvSpPr>
        <p:spPr>
          <a:xfrm>
            <a:off x="5425882" y="43507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itchFamily="2" charset="0"/>
                <a:ea typeface="Roboto" panose="02000000000000000000" pitchFamily="2" charset="0"/>
                <a:cs typeface="Tahoma" panose="020B0604030504040204" pitchFamily="34" charset="0"/>
              </a:rPr>
              <a:t>РЕЗУЛЬТАТ</a:t>
            </a:r>
            <a:endParaRPr lang="ru-RU" sz="1600" b="1" dirty="0">
              <a:solidFill>
                <a:schemeClr val="bg1"/>
              </a:solidFill>
              <a:latin typeface="Montserrat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1E3707-024A-0A55-D174-7F548BFAB75D}"/>
              </a:ext>
            </a:extLst>
          </p:cNvPr>
          <p:cNvSpPr txBox="1"/>
          <p:nvPr/>
        </p:nvSpPr>
        <p:spPr>
          <a:xfrm>
            <a:off x="988253" y="224028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FED370-AF96-0F54-B62C-6199E0EFD00D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70462E-1B25-26FF-8469-FA9615A10946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2CB2CED-9848-FB29-E41F-91EA3051A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AEA1B8-8B25-E141-A1C7-523A76B93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6F207-CE1E-8C4D-52BF-AA0B99109392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D31BBFA-5DAC-5A21-E249-74B08E576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120" y="1373061"/>
            <a:ext cx="2319523" cy="515449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67AD551-3EFD-1A70-66AD-208625628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154" y="1373061"/>
            <a:ext cx="2319523" cy="51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0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C64EE-0395-FD9B-AAD8-BC0A2173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93E69BB-0DCD-6859-C794-34DAD9533999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51714C1-C9CA-51A2-A641-8232A96ABEF1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F5443-4F63-3157-FCDD-77EEEEF99154}"/>
              </a:ext>
            </a:extLst>
          </p:cNvPr>
          <p:cNvSpPr txBox="1"/>
          <p:nvPr/>
        </p:nvSpPr>
        <p:spPr>
          <a:xfrm>
            <a:off x="5425882" y="43507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ПЛАН РАБОТЫ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4EBB0-BF9C-E072-2A9F-330713980CE4}"/>
              </a:ext>
            </a:extLst>
          </p:cNvPr>
          <p:cNvSpPr txBox="1"/>
          <p:nvPr/>
        </p:nvSpPr>
        <p:spPr>
          <a:xfrm>
            <a:off x="988253" y="224028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B273B-FF6C-709F-CA43-B957914D9F6F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A7B8F-034A-73F3-620A-66AF7D6346BB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14E3CB-6CFF-3599-1273-9B5D1DE07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0805271E-3B6D-B038-3AFE-C8E306FFAB34}"/>
              </a:ext>
            </a:extLst>
          </p:cNvPr>
          <p:cNvCxnSpPr>
            <a:cxnSpLocks/>
          </p:cNvCxnSpPr>
          <p:nvPr/>
        </p:nvCxnSpPr>
        <p:spPr>
          <a:xfrm>
            <a:off x="1294410" y="3783424"/>
            <a:ext cx="9939647" cy="0"/>
          </a:xfrm>
          <a:prstGeom prst="straightConnector1">
            <a:avLst/>
          </a:prstGeom>
          <a:ln w="38100">
            <a:solidFill>
              <a:srgbClr val="48B9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0F62109-5B68-FAA5-084A-C725F9070501}"/>
              </a:ext>
            </a:extLst>
          </p:cNvPr>
          <p:cNvCxnSpPr>
            <a:cxnSpLocks/>
          </p:cNvCxnSpPr>
          <p:nvPr/>
        </p:nvCxnSpPr>
        <p:spPr>
          <a:xfrm flipV="1">
            <a:off x="2232561" y="2897579"/>
            <a:ext cx="0" cy="885845"/>
          </a:xfrm>
          <a:prstGeom prst="line">
            <a:avLst/>
          </a:prstGeom>
          <a:ln w="19050">
            <a:solidFill>
              <a:srgbClr val="48B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F8FA7BC6-FE9D-00EB-ED8D-0EB0A52F25D7}"/>
              </a:ext>
            </a:extLst>
          </p:cNvPr>
          <p:cNvSpPr/>
          <p:nvPr/>
        </p:nvSpPr>
        <p:spPr>
          <a:xfrm>
            <a:off x="1294410" y="2297382"/>
            <a:ext cx="1876302" cy="681045"/>
          </a:xfrm>
          <a:prstGeom prst="roundRect">
            <a:avLst/>
          </a:prstGeom>
          <a:solidFill>
            <a:srgbClr val="8626AE"/>
          </a:solidFill>
          <a:ln>
            <a:solidFill>
              <a:srgbClr val="8626A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Анализ литературы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378E247-4673-8C2E-B842-334C13DAD7CC}"/>
              </a:ext>
            </a:extLst>
          </p:cNvPr>
          <p:cNvCxnSpPr>
            <a:cxnSpLocks/>
          </p:cNvCxnSpPr>
          <p:nvPr/>
        </p:nvCxnSpPr>
        <p:spPr>
          <a:xfrm flipV="1">
            <a:off x="3060655" y="3783424"/>
            <a:ext cx="0" cy="885845"/>
          </a:xfrm>
          <a:prstGeom prst="line">
            <a:avLst/>
          </a:prstGeom>
          <a:ln w="19050">
            <a:solidFill>
              <a:srgbClr val="48B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Скругленный прямоугольник 21">
            <a:extLst>
              <a:ext uri="{FF2B5EF4-FFF2-40B4-BE49-F238E27FC236}">
                <a16:creationId xmlns:a16="http://schemas.microsoft.com/office/drawing/2014/main" id="{736964A0-6748-F936-5132-49BB2B8EB161}"/>
              </a:ext>
            </a:extLst>
          </p:cNvPr>
          <p:cNvSpPr/>
          <p:nvPr/>
        </p:nvSpPr>
        <p:spPr>
          <a:xfrm>
            <a:off x="2122504" y="4575067"/>
            <a:ext cx="1876302" cy="681045"/>
          </a:xfrm>
          <a:prstGeom prst="roundRect">
            <a:avLst/>
          </a:prstGeom>
          <a:solidFill>
            <a:srgbClr val="8626AE"/>
          </a:solidFill>
          <a:ln>
            <a:solidFill>
              <a:srgbClr val="8626A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Разработка алгоритмов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746B7323-8755-631C-E7E2-E175A32D1DF6}"/>
              </a:ext>
            </a:extLst>
          </p:cNvPr>
          <p:cNvCxnSpPr>
            <a:cxnSpLocks/>
          </p:cNvCxnSpPr>
          <p:nvPr/>
        </p:nvCxnSpPr>
        <p:spPr>
          <a:xfrm flipV="1">
            <a:off x="4810190" y="2891780"/>
            <a:ext cx="0" cy="885845"/>
          </a:xfrm>
          <a:prstGeom prst="line">
            <a:avLst/>
          </a:prstGeom>
          <a:ln w="19050">
            <a:solidFill>
              <a:srgbClr val="48B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CBFE0-8334-1C6B-415F-BC481CB69BD9}"/>
              </a:ext>
            </a:extLst>
          </p:cNvPr>
          <p:cNvSpPr/>
          <p:nvPr/>
        </p:nvSpPr>
        <p:spPr>
          <a:xfrm>
            <a:off x="3872039" y="2293614"/>
            <a:ext cx="1876302" cy="681045"/>
          </a:xfrm>
          <a:prstGeom prst="roundRect">
            <a:avLst/>
          </a:prstGeom>
          <a:solidFill>
            <a:srgbClr val="8626AE"/>
          </a:solidFill>
          <a:ln>
            <a:solidFill>
              <a:srgbClr val="8626A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Интеграция</a:t>
            </a:r>
          </a:p>
          <a:p>
            <a:pPr algn="ctr"/>
            <a:r>
              <a:rPr lang="en-US" dirty="0" err="1"/>
              <a:t>GigaChat</a:t>
            </a:r>
            <a:endParaRPr lang="ru-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11B629A-5BDE-CD64-6B08-D41A8D01973E}"/>
              </a:ext>
            </a:extLst>
          </p:cNvPr>
          <p:cNvCxnSpPr>
            <a:cxnSpLocks/>
          </p:cNvCxnSpPr>
          <p:nvPr/>
        </p:nvCxnSpPr>
        <p:spPr>
          <a:xfrm flipV="1">
            <a:off x="6264007" y="3783424"/>
            <a:ext cx="0" cy="885845"/>
          </a:xfrm>
          <a:prstGeom prst="line">
            <a:avLst/>
          </a:prstGeom>
          <a:ln w="19050">
            <a:solidFill>
              <a:srgbClr val="48B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899C0D8F-D546-51D0-50D0-061775EDF967}"/>
              </a:ext>
            </a:extLst>
          </p:cNvPr>
          <p:cNvSpPr/>
          <p:nvPr/>
        </p:nvSpPr>
        <p:spPr>
          <a:xfrm>
            <a:off x="5325856" y="4575067"/>
            <a:ext cx="1876302" cy="681045"/>
          </a:xfrm>
          <a:prstGeom prst="roundRect">
            <a:avLst/>
          </a:prstGeom>
          <a:solidFill>
            <a:srgbClr val="8626AE"/>
          </a:solidFill>
          <a:ln>
            <a:solidFill>
              <a:srgbClr val="8626A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Тестирование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4EAEE37-A4E2-2F4B-3EBE-C386D33C6C18}"/>
              </a:ext>
            </a:extLst>
          </p:cNvPr>
          <p:cNvCxnSpPr>
            <a:cxnSpLocks/>
          </p:cNvCxnSpPr>
          <p:nvPr/>
        </p:nvCxnSpPr>
        <p:spPr>
          <a:xfrm flipV="1">
            <a:off x="7746444" y="2891780"/>
            <a:ext cx="0" cy="885845"/>
          </a:xfrm>
          <a:prstGeom prst="line">
            <a:avLst/>
          </a:prstGeom>
          <a:ln w="19050">
            <a:solidFill>
              <a:srgbClr val="48B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30F4774B-54CE-3E1D-2F63-E2B2AA12BA59}"/>
              </a:ext>
            </a:extLst>
          </p:cNvPr>
          <p:cNvSpPr/>
          <p:nvPr/>
        </p:nvSpPr>
        <p:spPr>
          <a:xfrm>
            <a:off x="6808293" y="2303625"/>
            <a:ext cx="1876302" cy="681045"/>
          </a:xfrm>
          <a:prstGeom prst="roundRect">
            <a:avLst/>
          </a:prstGeom>
          <a:solidFill>
            <a:srgbClr val="8626AE"/>
          </a:solidFill>
          <a:ln>
            <a:solidFill>
              <a:srgbClr val="8626A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Исправление ошибок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FAB7FB6D-956C-7C7E-F1ED-61DDC98216F9}"/>
              </a:ext>
            </a:extLst>
          </p:cNvPr>
          <p:cNvCxnSpPr>
            <a:cxnSpLocks/>
          </p:cNvCxnSpPr>
          <p:nvPr/>
        </p:nvCxnSpPr>
        <p:spPr>
          <a:xfrm flipV="1">
            <a:off x="9632641" y="3777625"/>
            <a:ext cx="0" cy="885845"/>
          </a:xfrm>
          <a:prstGeom prst="line">
            <a:avLst/>
          </a:prstGeom>
          <a:ln w="19050">
            <a:solidFill>
              <a:srgbClr val="48B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E14CFA71-B6E9-F5B9-3A0B-220F78497C62}"/>
              </a:ext>
            </a:extLst>
          </p:cNvPr>
          <p:cNvSpPr/>
          <p:nvPr/>
        </p:nvSpPr>
        <p:spPr>
          <a:xfrm>
            <a:off x="8694489" y="4575066"/>
            <a:ext cx="2100173" cy="681045"/>
          </a:xfrm>
          <a:prstGeom prst="roundRect">
            <a:avLst/>
          </a:prstGeom>
          <a:solidFill>
            <a:srgbClr val="8626AE"/>
          </a:solidFill>
          <a:ln>
            <a:solidFill>
              <a:srgbClr val="8626AE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Дополнительные функции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C7A425-9A4A-1482-3B4C-EDFF73EF3CA6}"/>
              </a:ext>
            </a:extLst>
          </p:cNvPr>
          <p:cNvSpPr txBox="1"/>
          <p:nvPr/>
        </p:nvSpPr>
        <p:spPr>
          <a:xfrm>
            <a:off x="1855695" y="3811809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Октябрь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17E5A9-9A60-B85B-E2DB-332362E522C6}"/>
              </a:ext>
            </a:extLst>
          </p:cNvPr>
          <p:cNvSpPr txBox="1"/>
          <p:nvPr/>
        </p:nvSpPr>
        <p:spPr>
          <a:xfrm>
            <a:off x="2324200" y="3473255"/>
            <a:ext cx="1471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Октябрь - Ноябрь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581240-7A0D-1F46-9C84-0C6BF593E957}"/>
              </a:ext>
            </a:extLst>
          </p:cNvPr>
          <p:cNvSpPr txBox="1"/>
          <p:nvPr/>
        </p:nvSpPr>
        <p:spPr>
          <a:xfrm>
            <a:off x="4057749" y="3840194"/>
            <a:ext cx="149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Декабрь - Январь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DF5489-3AD2-5E97-3DF5-150589304316}"/>
              </a:ext>
            </a:extLst>
          </p:cNvPr>
          <p:cNvSpPr txBox="1"/>
          <p:nvPr/>
        </p:nvSpPr>
        <p:spPr>
          <a:xfrm>
            <a:off x="5906377" y="3473532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Январь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91B514-BDBE-DCEF-6A0B-3B40C364E79D}"/>
              </a:ext>
            </a:extLst>
          </p:cNvPr>
          <p:cNvSpPr txBox="1"/>
          <p:nvPr/>
        </p:nvSpPr>
        <p:spPr>
          <a:xfrm>
            <a:off x="7128326" y="3828148"/>
            <a:ext cx="1391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Февраль – Март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AB8F7-0899-12AD-1053-5131AFC78EB7}"/>
              </a:ext>
            </a:extLst>
          </p:cNvPr>
          <p:cNvSpPr txBox="1"/>
          <p:nvPr/>
        </p:nvSpPr>
        <p:spPr>
          <a:xfrm>
            <a:off x="9161775" y="3484371"/>
            <a:ext cx="101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2026 - 2027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84FC25-660D-4FEA-11BA-5E78A681F620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7F18B6-9F67-8231-B027-3F0BD8510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7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C38F4-42F7-5F89-673A-0EB943B8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78A6877-E225-145C-8589-36E9913AA6CF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DC0D2DC-2614-0E70-F78E-BF5B713B9B64}"/>
              </a:ext>
            </a:extLst>
          </p:cNvPr>
          <p:cNvSpPr/>
          <p:nvPr/>
        </p:nvSpPr>
        <p:spPr>
          <a:xfrm>
            <a:off x="-304" y="0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541D3-7030-E92A-9896-7F651348B2CE}"/>
              </a:ext>
            </a:extLst>
          </p:cNvPr>
          <p:cNvSpPr txBox="1"/>
          <p:nvPr/>
        </p:nvSpPr>
        <p:spPr>
          <a:xfrm>
            <a:off x="4947578" y="486476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ПЛАНЫ НА БУДУЩЕЕ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C1200-5994-B68A-8849-1FBDCC9C1181}"/>
              </a:ext>
            </a:extLst>
          </p:cNvPr>
          <p:cNvSpPr txBox="1"/>
          <p:nvPr/>
        </p:nvSpPr>
        <p:spPr>
          <a:xfrm>
            <a:off x="988253" y="224028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3F935D-CFC2-DE30-006B-6075063D8436}"/>
              </a:ext>
            </a:extLst>
          </p:cNvPr>
          <p:cNvSpPr txBox="1"/>
          <p:nvPr/>
        </p:nvSpPr>
        <p:spPr>
          <a:xfrm>
            <a:off x="988253" y="393037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B5ABA3-C96A-E312-336B-A588B6F18260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35A8A4-5B09-FC1C-C6D2-283FBB1F5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ECD600-CFBD-58F0-2A86-A2E3E52FB82E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66C6FA-C46D-4CCE-B1CB-AAB1EB30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518BF9D-C9CD-7694-4975-F43F194AA109}"/>
              </a:ext>
            </a:extLst>
          </p:cNvPr>
          <p:cNvSpPr/>
          <p:nvPr/>
        </p:nvSpPr>
        <p:spPr>
          <a:xfrm>
            <a:off x="1887106" y="1602254"/>
            <a:ext cx="2143594" cy="81334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Montserrat" pitchFamily="2" charset="0"/>
              </a:rPr>
              <a:t>Приложение только на </a:t>
            </a:r>
            <a:r>
              <a:rPr lang="en-US" sz="1400" dirty="0">
                <a:latin typeface="Montserrat" pitchFamily="2" charset="0"/>
              </a:rPr>
              <a:t>Android</a:t>
            </a:r>
            <a:endParaRPr lang="ru-RU" sz="1400" dirty="0">
              <a:latin typeface="Montserrat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520B743-153E-072E-8872-05114EFCEEF2}"/>
              </a:ext>
            </a:extLst>
          </p:cNvPr>
          <p:cNvSpPr/>
          <p:nvPr/>
        </p:nvSpPr>
        <p:spPr>
          <a:xfrm>
            <a:off x="7405738" y="1609193"/>
            <a:ext cx="2143594" cy="81334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Приложение на </a:t>
            </a:r>
            <a:r>
              <a:rPr lang="en-US" dirty="0"/>
              <a:t>Android </a:t>
            </a:r>
            <a:r>
              <a:rPr lang="ru-RU" dirty="0"/>
              <a:t>и </a:t>
            </a:r>
            <a:r>
              <a:rPr lang="en-US" dirty="0"/>
              <a:t>IOS</a:t>
            </a:r>
            <a:endParaRPr lang="ru-RU" dirty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FB68BE0-FD05-D0B8-AFAC-E3E79EAB6227}"/>
              </a:ext>
            </a:extLst>
          </p:cNvPr>
          <p:cNvSpPr/>
          <p:nvPr/>
        </p:nvSpPr>
        <p:spPr>
          <a:xfrm>
            <a:off x="7388257" y="2780028"/>
            <a:ext cx="2143594" cy="76061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Montserrat" pitchFamily="2" charset="0"/>
              </a:rPr>
              <a:t>ИИ подсказки</a:t>
            </a:r>
            <a:r>
              <a:rPr lang="en-US" sz="1400" dirty="0">
                <a:latin typeface="Montserrat" pitchFamily="2" charset="0"/>
              </a:rPr>
              <a:t>, </a:t>
            </a:r>
            <a:r>
              <a:rPr lang="ru-RU" sz="1400" dirty="0">
                <a:latin typeface="Montserrat" pitchFamily="2" charset="0"/>
              </a:rPr>
              <a:t>голосовой помощник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FFAB14A-B63B-BAF4-DCFA-14794B4381D8}"/>
              </a:ext>
            </a:extLst>
          </p:cNvPr>
          <p:cNvSpPr/>
          <p:nvPr/>
        </p:nvSpPr>
        <p:spPr>
          <a:xfrm>
            <a:off x="1887103" y="2681149"/>
            <a:ext cx="2143595" cy="82028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Montserrat" pitchFamily="2" charset="0"/>
              </a:rPr>
              <a:t>Рекомендации от ИИ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17B578E-8879-A1FA-F571-7A6E3312FFD2}"/>
              </a:ext>
            </a:extLst>
          </p:cNvPr>
          <p:cNvSpPr/>
          <p:nvPr/>
        </p:nvSpPr>
        <p:spPr>
          <a:xfrm>
            <a:off x="1887104" y="3783268"/>
            <a:ext cx="2143594" cy="83491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Montserrat" pitchFamily="2" charset="0"/>
              </a:rPr>
              <a:t>Нет возможности импортировать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D7A83AA9-F65A-9700-B101-631FB5837817}"/>
              </a:ext>
            </a:extLst>
          </p:cNvPr>
          <p:cNvSpPr/>
          <p:nvPr/>
        </p:nvSpPr>
        <p:spPr>
          <a:xfrm>
            <a:off x="7405738" y="3794300"/>
            <a:ext cx="2143594" cy="76061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Montserrat" pitchFamily="2" charset="0"/>
              </a:rPr>
              <a:t>Генерация </a:t>
            </a:r>
            <a:r>
              <a:rPr lang="en" sz="1400" dirty="0">
                <a:latin typeface="Montserrat" pitchFamily="2" charset="0"/>
              </a:rPr>
              <a:t>PDF </a:t>
            </a:r>
            <a:r>
              <a:rPr lang="ru-RU" sz="1400" dirty="0">
                <a:latin typeface="Montserrat" pitchFamily="2" charset="0"/>
              </a:rPr>
              <a:t>для клиентов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F3D8B04-6B7A-59A8-9506-21BD15F16CC8}"/>
              </a:ext>
            </a:extLst>
          </p:cNvPr>
          <p:cNvCxnSpPr>
            <a:cxnSpLocks/>
          </p:cNvCxnSpPr>
          <p:nvPr/>
        </p:nvCxnSpPr>
        <p:spPr>
          <a:xfrm>
            <a:off x="4646422" y="1972521"/>
            <a:ext cx="214359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234DAEF0-F9C7-666F-1ABF-BC3B2FB06627}"/>
              </a:ext>
            </a:extLst>
          </p:cNvPr>
          <p:cNvCxnSpPr>
            <a:cxnSpLocks/>
          </p:cNvCxnSpPr>
          <p:nvPr/>
        </p:nvCxnSpPr>
        <p:spPr>
          <a:xfrm>
            <a:off x="4646422" y="3070370"/>
            <a:ext cx="214359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328E3B9F-8D3C-3131-D6C7-3AFE6683DF5E}"/>
              </a:ext>
            </a:extLst>
          </p:cNvPr>
          <p:cNvCxnSpPr>
            <a:cxnSpLocks/>
          </p:cNvCxnSpPr>
          <p:nvPr/>
        </p:nvCxnSpPr>
        <p:spPr>
          <a:xfrm>
            <a:off x="4646422" y="4099652"/>
            <a:ext cx="214359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B7BC8EE9-BEC1-52DB-F3D5-AEB82C688D24}"/>
              </a:ext>
            </a:extLst>
          </p:cNvPr>
          <p:cNvSpPr/>
          <p:nvPr/>
        </p:nvSpPr>
        <p:spPr>
          <a:xfrm>
            <a:off x="7405738" y="4894792"/>
            <a:ext cx="2143594" cy="76061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Montserrat" pitchFamily="2" charset="0"/>
              </a:rPr>
              <a:t>Более подробный анализ сочетаний(условная вероятность)</a:t>
            </a: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641FD5E8-7E6A-11AA-0037-E0AC056644BB}"/>
              </a:ext>
            </a:extLst>
          </p:cNvPr>
          <p:cNvSpPr/>
          <p:nvPr/>
        </p:nvSpPr>
        <p:spPr>
          <a:xfrm>
            <a:off x="1887103" y="4815147"/>
            <a:ext cx="2143594" cy="83491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Montserrat" pitchFamily="2" charset="0"/>
              </a:rPr>
              <a:t>Базовый анализ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82D29C0F-B597-6732-3CC9-6CFE74265DEB}"/>
              </a:ext>
            </a:extLst>
          </p:cNvPr>
          <p:cNvCxnSpPr>
            <a:cxnSpLocks/>
          </p:cNvCxnSpPr>
          <p:nvPr/>
        </p:nvCxnSpPr>
        <p:spPr>
          <a:xfrm>
            <a:off x="4646422" y="5221573"/>
            <a:ext cx="214359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75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327F6-F42C-D53D-5BE6-85439C7B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7CA6A49-B37C-E5FE-7D3E-526100AF6090}"/>
              </a:ext>
            </a:extLst>
          </p:cNvPr>
          <p:cNvSpPr/>
          <p:nvPr/>
        </p:nvSpPr>
        <p:spPr>
          <a:xfrm>
            <a:off x="-304" y="6687281"/>
            <a:ext cx="12192303" cy="170719"/>
          </a:xfrm>
          <a:prstGeom prst="rect">
            <a:avLst/>
          </a:prstGeom>
          <a:solidFill>
            <a:srgbClr val="862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F7C2413-3223-1049-5F57-C427ABABDD1A}"/>
              </a:ext>
            </a:extLst>
          </p:cNvPr>
          <p:cNvSpPr/>
          <p:nvPr/>
        </p:nvSpPr>
        <p:spPr>
          <a:xfrm>
            <a:off x="0" y="-4628"/>
            <a:ext cx="12192000" cy="1217965"/>
          </a:xfrm>
          <a:prstGeom prst="rect">
            <a:avLst/>
          </a:prstGeom>
          <a:solidFill>
            <a:srgbClr val="03A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1C65A-7E3B-96B3-7352-F41F0F2A6D0C}"/>
              </a:ext>
            </a:extLst>
          </p:cNvPr>
          <p:cNvSpPr txBox="1"/>
          <p:nvPr/>
        </p:nvSpPr>
        <p:spPr>
          <a:xfrm>
            <a:off x="5425882" y="435077"/>
            <a:ext cx="475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Montserrat" pitchFamily="2" charset="0"/>
                <a:ea typeface="Roboto" panose="02000000000000000000" pitchFamily="2" charset="0"/>
                <a:cs typeface="Tahoma" panose="020B0604030504040204" pitchFamily="34" charset="0"/>
              </a:rPr>
              <a:t>ЛИТЕРАТУРА</a:t>
            </a:r>
            <a:endParaRPr lang="ru-RU" sz="1600" b="1" dirty="0">
              <a:solidFill>
                <a:schemeClr val="bg1"/>
              </a:solidFill>
              <a:latin typeface="Montserrat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FD63B-95C8-97C7-2138-6827F5E7AC11}"/>
              </a:ext>
            </a:extLst>
          </p:cNvPr>
          <p:cNvSpPr txBox="1"/>
          <p:nvPr/>
        </p:nvSpPr>
        <p:spPr>
          <a:xfrm>
            <a:off x="988253" y="2240285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BADDD-F527-0A3D-9812-B6517FA32347}"/>
              </a:ext>
            </a:extLst>
          </p:cNvPr>
          <p:cNvSpPr txBox="1"/>
          <p:nvPr/>
        </p:nvSpPr>
        <p:spPr>
          <a:xfrm>
            <a:off x="988253" y="3783424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7AAB6-C8DC-97EE-1841-4CC2D7DA71A8}"/>
              </a:ext>
            </a:extLst>
          </p:cNvPr>
          <p:cNvSpPr txBox="1"/>
          <p:nvPr/>
        </p:nvSpPr>
        <p:spPr>
          <a:xfrm>
            <a:off x="988253" y="4306117"/>
            <a:ext cx="4729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spc="45" dirty="0"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8063CF7-D5DF-D381-DCCC-8BEA80AB5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90" y="292490"/>
            <a:ext cx="2055994" cy="623728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39FA0D7-2DBC-2D09-920D-F0C01E759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47" y="1653042"/>
            <a:ext cx="10515600" cy="4351338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ru-RU" sz="1600" dirty="0" err="1">
                <a:latin typeface="Montserrat" pitchFamily="2" charset="0"/>
              </a:rPr>
              <a:t>Анкилов</a:t>
            </a:r>
            <a:r>
              <a:rPr lang="ru-RU" sz="1600" dirty="0">
                <a:latin typeface="Montserrat" pitchFamily="2" charset="0"/>
              </a:rPr>
              <a:t> К.В. Российский рынок </a:t>
            </a:r>
            <a:r>
              <a:rPr lang="en" sz="1600" dirty="0">
                <a:latin typeface="Montserrat" pitchFamily="2" charset="0"/>
              </a:rPr>
              <a:t>AR/VR: </a:t>
            </a:r>
            <a:r>
              <a:rPr lang="ru-RU" sz="1600" dirty="0">
                <a:latin typeface="Montserrat" pitchFamily="2" charset="0"/>
              </a:rPr>
              <a:t>прогноз до 2025 г. / К.В. </a:t>
            </a:r>
            <a:r>
              <a:rPr lang="ru-RU" sz="1600" dirty="0" err="1">
                <a:latin typeface="Montserrat" pitchFamily="2" charset="0"/>
              </a:rPr>
              <a:t>Анкилов</a:t>
            </a:r>
            <a:r>
              <a:rPr lang="ru-RU" sz="1600" dirty="0">
                <a:latin typeface="Montserrat" pitchFamily="2" charset="0"/>
              </a:rPr>
              <a:t> // ТМТ Консалтинг. – М., 2021. – 45 с. – Режим доступа: </a:t>
            </a:r>
            <a:r>
              <a:rPr lang="en" sz="1600" dirty="0">
                <a:latin typeface="Montserrat" pitchFamily="2" charset="0"/>
                <a:hlinkClick r:id="rId3"/>
              </a:rPr>
              <a:t>https://www.tmtconsulting.ru/reports/ar-vr-2025</a:t>
            </a:r>
            <a:r>
              <a:rPr lang="en" sz="1600" dirty="0">
                <a:latin typeface="Montserrat" pitchFamily="2" charset="0"/>
              </a:rPr>
              <a:t>. (10.03.2026)</a:t>
            </a:r>
          </a:p>
          <a:p>
            <a:pPr marL="342900" indent="-342900">
              <a:buAutoNum type="arabicPeriod"/>
            </a:pPr>
            <a:r>
              <a:rPr lang="en" sz="1600" dirty="0" err="1">
                <a:latin typeface="Montserrat" pitchFamily="2" charset="0"/>
              </a:rPr>
              <a:t>CameraX</a:t>
            </a:r>
            <a:r>
              <a:rPr lang="en" sz="1600" dirty="0">
                <a:latin typeface="Montserrat" pitchFamily="2" charset="0"/>
              </a:rPr>
              <a:t>. </a:t>
            </a:r>
            <a:r>
              <a:rPr lang="ru-RU" sz="1600" dirty="0">
                <a:latin typeface="Montserrat" pitchFamily="2" charset="0"/>
              </a:rPr>
              <a:t>Руководство разработчика [Электронный ресурс] // Официальная документация </a:t>
            </a:r>
            <a:r>
              <a:rPr lang="en" sz="1600" dirty="0">
                <a:latin typeface="Montserrat" pitchFamily="2" charset="0"/>
              </a:rPr>
              <a:t>Android. – </a:t>
            </a:r>
            <a:r>
              <a:rPr lang="ru-RU" sz="1600" dirty="0">
                <a:latin typeface="Montserrat" pitchFamily="2" charset="0"/>
              </a:rPr>
              <a:t>Режим доступа: </a:t>
            </a:r>
            <a:r>
              <a:rPr lang="en" sz="1600" dirty="0">
                <a:latin typeface="Montserrat" pitchFamily="2" charset="0"/>
                <a:hlinkClick r:id="rId4"/>
              </a:rPr>
              <a:t>https://developer.android.com/training/camerax</a:t>
            </a:r>
            <a:r>
              <a:rPr lang="en" sz="1600" dirty="0">
                <a:latin typeface="Montserrat" pitchFamily="2" charset="0"/>
              </a:rPr>
              <a:t> (10.03.2026)</a:t>
            </a:r>
          </a:p>
          <a:p>
            <a:pPr marL="342900" indent="-342900">
              <a:buAutoNum type="arabicPeriod"/>
            </a:pPr>
            <a:r>
              <a:rPr lang="en" sz="1600" dirty="0" err="1">
                <a:latin typeface="Montserrat" pitchFamily="2" charset="0"/>
              </a:rPr>
              <a:t>GigaChat</a:t>
            </a:r>
            <a:r>
              <a:rPr lang="en" sz="1600" dirty="0">
                <a:latin typeface="Montserrat" pitchFamily="2" charset="0"/>
              </a:rPr>
              <a:t> API Documentation [</a:t>
            </a:r>
            <a:r>
              <a:rPr lang="ru-RU" sz="1600" dirty="0">
                <a:latin typeface="Montserrat" pitchFamily="2" charset="0"/>
              </a:rPr>
              <a:t>Электронный ресурс] // </a:t>
            </a:r>
            <a:r>
              <a:rPr lang="en" sz="1600" dirty="0" err="1">
                <a:latin typeface="Montserrat" pitchFamily="2" charset="0"/>
              </a:rPr>
              <a:t>SberDevices.ru</a:t>
            </a:r>
            <a:r>
              <a:rPr lang="en" sz="1600" dirty="0">
                <a:latin typeface="Montserrat" pitchFamily="2" charset="0"/>
              </a:rPr>
              <a:t>. – 2026. – </a:t>
            </a:r>
            <a:r>
              <a:rPr lang="ru-RU" sz="1600" dirty="0">
                <a:latin typeface="Montserrat" pitchFamily="2" charset="0"/>
              </a:rPr>
              <a:t>Режим доступа: </a:t>
            </a:r>
            <a:r>
              <a:rPr lang="en" sz="1600" dirty="0">
                <a:latin typeface="Montserrat" pitchFamily="2" charset="0"/>
                <a:hlinkClick r:id="rId5"/>
              </a:rPr>
              <a:t>https://developers.sber.ru/docs/ru/gigachat/overview</a:t>
            </a:r>
            <a:r>
              <a:rPr lang="ru-RU" sz="1600" dirty="0">
                <a:latin typeface="Montserrat" pitchFamily="2" charset="0"/>
              </a:rPr>
              <a:t> (</a:t>
            </a:r>
            <a:r>
              <a:rPr lang="en-US" sz="1600" dirty="0">
                <a:latin typeface="Montserrat" pitchFamily="2" charset="0"/>
              </a:rPr>
              <a:t>27.02.2026)</a:t>
            </a:r>
          </a:p>
          <a:p>
            <a:pPr marL="342900" indent="-342900">
              <a:buAutoNum type="arabicPeriod"/>
            </a:pPr>
            <a:r>
              <a:rPr lang="en" sz="1600" dirty="0">
                <a:latin typeface="Montserrat" pitchFamily="2" charset="0"/>
              </a:rPr>
              <a:t>Jetpack Compose. </a:t>
            </a:r>
            <a:r>
              <a:rPr lang="ru-RU" sz="1600" dirty="0">
                <a:latin typeface="Montserrat" pitchFamily="2" charset="0"/>
              </a:rPr>
              <a:t>Официальная документация [Электронный ресурс] // </a:t>
            </a:r>
            <a:r>
              <a:rPr lang="en" sz="1600" dirty="0">
                <a:latin typeface="Montserrat" pitchFamily="2" charset="0"/>
              </a:rPr>
              <a:t>Android Developers. – </a:t>
            </a:r>
            <a:r>
              <a:rPr lang="ru-RU" sz="1600" dirty="0">
                <a:latin typeface="Montserrat" pitchFamily="2" charset="0"/>
              </a:rPr>
              <a:t>Режим доступа: </a:t>
            </a:r>
            <a:r>
              <a:rPr lang="en" sz="1600" dirty="0">
                <a:latin typeface="Montserrat" pitchFamily="2" charset="0"/>
                <a:hlinkClick r:id="rId6"/>
              </a:rPr>
              <a:t>https://developer.android.com/jetpack/compose</a:t>
            </a:r>
            <a:r>
              <a:rPr lang="en" sz="1600" dirty="0">
                <a:latin typeface="Montserrat" pitchFamily="2" charset="0"/>
              </a:rPr>
              <a:t> (14.03.2026)</a:t>
            </a:r>
            <a:endParaRPr lang="en-US" sz="1600" dirty="0">
              <a:latin typeface="Montserrat" pitchFamily="2" charset="0"/>
            </a:endParaRPr>
          </a:p>
          <a:p>
            <a:pPr marL="342900" indent="-342900">
              <a:buAutoNum type="arabicPeriod"/>
            </a:pPr>
            <a:r>
              <a:rPr lang="en" sz="1600" dirty="0">
                <a:latin typeface="Montserrat" pitchFamily="2" charset="0"/>
              </a:rPr>
              <a:t>X-Rite Software Subscriptions [</a:t>
            </a:r>
            <a:r>
              <a:rPr lang="ru-RU" sz="1600" dirty="0">
                <a:latin typeface="Montserrat" pitchFamily="2" charset="0"/>
              </a:rPr>
              <a:t>Электронный ресурс] // </a:t>
            </a:r>
            <a:r>
              <a:rPr lang="en" sz="1600" dirty="0">
                <a:latin typeface="Montserrat" pitchFamily="2" charset="0"/>
              </a:rPr>
              <a:t>X-Rite. – </a:t>
            </a:r>
            <a:r>
              <a:rPr lang="ru-RU" sz="1600" dirty="0">
                <a:latin typeface="Montserrat" pitchFamily="2" charset="0"/>
              </a:rPr>
              <a:t>Режим доступа: </a:t>
            </a:r>
            <a:r>
              <a:rPr lang="en" sz="1600" dirty="0">
                <a:latin typeface="Montserrat" pitchFamily="2" charset="0"/>
                <a:hlinkClick r:id="rId7"/>
              </a:rPr>
              <a:t>https://www.xrite.com/page/software-subscription</a:t>
            </a:r>
            <a:r>
              <a:rPr lang="ru-RU" sz="1600" dirty="0">
                <a:latin typeface="Montserrat" pitchFamily="2" charset="0"/>
              </a:rPr>
              <a:t> </a:t>
            </a:r>
            <a:r>
              <a:rPr lang="en" sz="1600" dirty="0">
                <a:latin typeface="Montserrat" pitchFamily="2" charset="0"/>
              </a:rPr>
              <a:t>(</a:t>
            </a:r>
            <a:r>
              <a:rPr lang="ru-RU" sz="1600" dirty="0">
                <a:latin typeface="Montserrat" pitchFamily="2" charset="0"/>
              </a:rPr>
              <a:t>14.03.2026)</a:t>
            </a:r>
          </a:p>
          <a:p>
            <a:pPr marL="342900" indent="-342900">
              <a:buAutoNum type="arabicPeriod"/>
            </a:pPr>
            <a:r>
              <a:rPr lang="en" sz="1600" dirty="0">
                <a:latin typeface="Montserrat" pitchFamily="2" charset="0"/>
              </a:rPr>
              <a:t>BYK Color </a:t>
            </a:r>
            <a:r>
              <a:rPr lang="en" sz="1600" dirty="0" err="1">
                <a:latin typeface="Montserrat" pitchFamily="2" charset="0"/>
              </a:rPr>
              <a:t>iQC</a:t>
            </a:r>
            <a:r>
              <a:rPr lang="en" sz="1600" dirty="0">
                <a:latin typeface="Montserrat" pitchFamily="2" charset="0"/>
              </a:rPr>
              <a:t>. Ultimate Color Quality Control [</a:t>
            </a:r>
            <a:r>
              <a:rPr lang="ru-RU" sz="1600" dirty="0">
                <a:latin typeface="Montserrat" pitchFamily="2" charset="0"/>
              </a:rPr>
              <a:t>Электронный ресурс] // </a:t>
            </a:r>
            <a:r>
              <a:rPr lang="en" sz="1600" dirty="0">
                <a:latin typeface="Montserrat" pitchFamily="2" charset="0"/>
              </a:rPr>
              <a:t>BYK Instruments. – </a:t>
            </a:r>
            <a:r>
              <a:rPr lang="ru-RU" sz="1600" dirty="0">
                <a:latin typeface="Montserrat" pitchFamily="2" charset="0"/>
              </a:rPr>
              <a:t>Режим доступа: </a:t>
            </a:r>
            <a:r>
              <a:rPr lang="en" sz="1600" dirty="0">
                <a:latin typeface="Montserrat" pitchFamily="2" charset="0"/>
                <a:hlinkClick r:id="rId8"/>
              </a:rPr>
              <a:t>https://www.byk.com/en/products/color-iqc</a:t>
            </a:r>
            <a:r>
              <a:rPr lang="ru-RU" sz="1600" dirty="0">
                <a:latin typeface="Montserrat" pitchFamily="2" charset="0"/>
              </a:rPr>
              <a:t> </a:t>
            </a:r>
            <a:r>
              <a:rPr lang="en" sz="1600" dirty="0">
                <a:latin typeface="Montserrat" pitchFamily="2" charset="0"/>
              </a:rPr>
              <a:t>(</a:t>
            </a:r>
            <a:r>
              <a:rPr lang="ru-RU" sz="1600" dirty="0">
                <a:latin typeface="Montserrat" pitchFamily="2" charset="0"/>
              </a:rPr>
              <a:t>15.03.2026)</a:t>
            </a:r>
          </a:p>
          <a:p>
            <a:pPr marL="342900" indent="-342900">
              <a:buAutoNum type="arabicPeriod"/>
            </a:pPr>
            <a:r>
              <a:rPr lang="en" sz="1600" dirty="0">
                <a:latin typeface="Montserrat" pitchFamily="2" charset="0"/>
              </a:rPr>
              <a:t>Pantone Color Bridge. </a:t>
            </a:r>
            <a:r>
              <a:rPr lang="ru-RU" sz="1600" dirty="0">
                <a:latin typeface="Montserrat" pitchFamily="2" charset="0"/>
              </a:rPr>
              <a:t>Калибровка и контроль [Электронный ресурс] // </a:t>
            </a:r>
            <a:r>
              <a:rPr lang="en" sz="1600" dirty="0" err="1">
                <a:latin typeface="Montserrat" pitchFamily="2" charset="0"/>
              </a:rPr>
              <a:t>Skyeng.ru</a:t>
            </a:r>
            <a:r>
              <a:rPr lang="en" sz="1600" dirty="0">
                <a:latin typeface="Montserrat" pitchFamily="2" charset="0"/>
              </a:rPr>
              <a:t>. – </a:t>
            </a:r>
            <a:r>
              <a:rPr lang="ru-RU" sz="1600" dirty="0">
                <a:latin typeface="Montserrat" pitchFamily="2" charset="0"/>
              </a:rPr>
              <a:t>Режим доступа: </a:t>
            </a:r>
            <a:r>
              <a:rPr lang="en" sz="1600" dirty="0">
                <a:latin typeface="Montserrat" pitchFamily="2" charset="0"/>
                <a:hlinkClick r:id="rId9"/>
              </a:rPr>
              <a:t>https://skyeng.ru/it-industry/design/sistema-tsvetov-pantone-mezhdunarodniy-standart-pechati/</a:t>
            </a:r>
            <a:r>
              <a:rPr lang="ru-RU" sz="1600" dirty="0">
                <a:latin typeface="Montserrat" pitchFamily="2" charset="0"/>
              </a:rPr>
              <a:t> (16</a:t>
            </a:r>
            <a:r>
              <a:rPr lang="en" sz="1600" dirty="0">
                <a:latin typeface="Montserrat" pitchFamily="2" charset="0"/>
              </a:rPr>
              <a:t>.03.2026)</a:t>
            </a:r>
            <a:endParaRPr lang="ru-RU" sz="1600" dirty="0">
              <a:latin typeface="Montserrat" pitchFamily="2" charset="0"/>
            </a:endParaRPr>
          </a:p>
          <a:p>
            <a:pPr marL="342900" indent="-342900">
              <a:buAutoNum type="arabicPeriod"/>
            </a:pPr>
            <a:endParaRPr lang="ru-RU" sz="1600" dirty="0"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E271D-6057-CD20-0DB1-5BEA3660AA36}"/>
              </a:ext>
            </a:extLst>
          </p:cNvPr>
          <p:cNvSpPr txBox="1"/>
          <p:nvPr/>
        </p:nvSpPr>
        <p:spPr>
          <a:xfrm>
            <a:off x="9620604" y="317462"/>
            <a:ext cx="2349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Природоподобные и </a:t>
            </a:r>
            <a:r>
              <a:rPr lang="ru-RU" sz="1600" dirty="0" err="1">
                <a:solidFill>
                  <a:schemeClr val="bg1"/>
                </a:solidFill>
                <a:latin typeface="Montserrat" panose="00000500000000000000" pitchFamily="2" charset="-52"/>
                <a:ea typeface="Tahoma" panose="020B0604030504040204" pitchFamily="34" charset="0"/>
                <a:cs typeface="Tahoma" panose="020B0604030504040204" pitchFamily="34" charset="0"/>
              </a:rPr>
              <a:t>нейротехнологи</a:t>
            </a:r>
            <a:endParaRPr lang="ru-RU" sz="1600" dirty="0">
              <a:solidFill>
                <a:schemeClr val="bg1"/>
              </a:solidFill>
              <a:latin typeface="Montserrat" panose="00000500000000000000" pitchFamily="2" charset="-52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767A96-0B49-BE22-5DE5-A9A2F72E19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0101" y="125643"/>
            <a:ext cx="571769" cy="88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13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AD42D7-36A7-D143-C948-8025325C02EE}"/>
              </a:ext>
            </a:extLst>
          </p:cNvPr>
          <p:cNvSpPr txBox="1"/>
          <p:nvPr/>
        </p:nvSpPr>
        <p:spPr>
          <a:xfrm>
            <a:off x="3547154" y="4331418"/>
            <a:ext cx="1168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Проект</a:t>
            </a:r>
            <a:endParaRPr lang="en-US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(GitHub)</a:t>
            </a:r>
            <a:endParaRPr lang="ru-RU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F8FAE6-EFCD-23E5-0DA9-AAE3EF5D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775" y="2135349"/>
            <a:ext cx="2184664" cy="2095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43E1F-804E-05D2-03DD-73BB7CF6B023}"/>
              </a:ext>
            </a:extLst>
          </p:cNvPr>
          <p:cNvSpPr txBox="1"/>
          <p:nvPr/>
        </p:nvSpPr>
        <p:spPr>
          <a:xfrm>
            <a:off x="7106802" y="4331418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" pitchFamily="2" charset="0"/>
              </a:rPr>
              <a:t>Обратная связь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CC404F-E93A-D965-1DAF-56869FAB8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277" y="2135347"/>
            <a:ext cx="2139949" cy="213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6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Gilroy 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8511</TotalTime>
  <Words>1434</Words>
  <Application>Microsoft Macintosh PowerPoint</Application>
  <PresentationFormat>Широкоэкранный</PresentationFormat>
  <Paragraphs>194</Paragraphs>
  <Slides>15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Aptos</vt:lpstr>
      <vt:lpstr>Gilroy Bold</vt:lpstr>
      <vt:lpstr>Montserrat</vt:lpstr>
      <vt:lpstr>Gilroy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a54773</cp:lastModifiedBy>
  <cp:revision>73</cp:revision>
  <dcterms:created xsi:type="dcterms:W3CDTF">2019-06-25T18:08:16Z</dcterms:created>
  <dcterms:modified xsi:type="dcterms:W3CDTF">2026-03-18T09:57:43Z</dcterms:modified>
</cp:coreProperties>
</file>